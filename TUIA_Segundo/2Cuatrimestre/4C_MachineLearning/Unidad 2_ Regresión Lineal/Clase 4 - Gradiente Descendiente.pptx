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aleway"/>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3" roundtripDataSignature="AMtx7mhQih/8aPmd6MLqAR4rerYWvGIz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fntdata"/><Relationship Id="rId25" Type="http://schemas.openxmlformats.org/officeDocument/2006/relationships/font" Target="fonts/Raleway-regular.fntdata"/><Relationship Id="rId28" Type="http://schemas.openxmlformats.org/officeDocument/2006/relationships/font" Target="fonts/Raleway-boldItalic.fntdata"/><Relationship Id="rId27"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57"/>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57"/>
          <p:cNvGrpSpPr/>
          <p:nvPr/>
        </p:nvGrpSpPr>
        <p:grpSpPr>
          <a:xfrm>
            <a:off x="830392" y="1191256"/>
            <a:ext cx="745763" cy="45826"/>
            <a:chOff x="4580561" y="2589004"/>
            <a:chExt cx="1064464" cy="25200"/>
          </a:xfrm>
        </p:grpSpPr>
        <p:sp>
          <p:nvSpPr>
            <p:cNvPr id="12" name="Google Shape;12;p5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5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57"/>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58"/>
          <p:cNvGrpSpPr/>
          <p:nvPr/>
        </p:nvGrpSpPr>
        <p:grpSpPr>
          <a:xfrm>
            <a:off x="830392" y="1191256"/>
            <a:ext cx="745763" cy="45826"/>
            <a:chOff x="4580561" y="2589004"/>
            <a:chExt cx="1064464" cy="25200"/>
          </a:xfrm>
        </p:grpSpPr>
        <p:sp>
          <p:nvSpPr>
            <p:cNvPr id="20" name="Google Shape;20;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p5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59"/>
          <p:cNvGrpSpPr/>
          <p:nvPr/>
        </p:nvGrpSpPr>
        <p:grpSpPr>
          <a:xfrm>
            <a:off x="830392" y="1191256"/>
            <a:ext cx="745763" cy="45826"/>
            <a:chOff x="4580561" y="2589004"/>
            <a:chExt cx="1064464" cy="25200"/>
          </a:xfrm>
        </p:grpSpPr>
        <p:sp>
          <p:nvSpPr>
            <p:cNvPr id="28" name="Google Shape;28;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1" name="Google Shape;31;p5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2" name="Google Shape;32;p5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3" name="Google Shape;33;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60"/>
          <p:cNvGrpSpPr/>
          <p:nvPr/>
        </p:nvGrpSpPr>
        <p:grpSpPr>
          <a:xfrm>
            <a:off x="830392" y="1191256"/>
            <a:ext cx="745763" cy="45826"/>
            <a:chOff x="4580561" y="2589004"/>
            <a:chExt cx="1064464" cy="25200"/>
          </a:xfrm>
        </p:grpSpPr>
        <p:sp>
          <p:nvSpPr>
            <p:cNvPr id="36" name="Google Shape;36;p6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6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9" name="Google Shape;39;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1"/>
          <p:cNvGrpSpPr/>
          <p:nvPr/>
        </p:nvGrpSpPr>
        <p:grpSpPr>
          <a:xfrm>
            <a:off x="830392" y="1191256"/>
            <a:ext cx="745763" cy="45826"/>
            <a:chOff x="4580561" y="2589004"/>
            <a:chExt cx="1064464" cy="25200"/>
          </a:xfrm>
        </p:grpSpPr>
        <p:sp>
          <p:nvSpPr>
            <p:cNvPr id="43" name="Google Shape;43;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1"/>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61"/>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2"/>
          <p:cNvGrpSpPr/>
          <p:nvPr/>
        </p:nvGrpSpPr>
        <p:grpSpPr>
          <a:xfrm>
            <a:off x="830392" y="1191256"/>
            <a:ext cx="745763" cy="45826"/>
            <a:chOff x="4580561" y="2589004"/>
            <a:chExt cx="1064464" cy="25200"/>
          </a:xfrm>
        </p:grpSpPr>
        <p:sp>
          <p:nvSpPr>
            <p:cNvPr id="52" name="Google Shape;52;p6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3"/>
          <p:cNvGrpSpPr/>
          <p:nvPr/>
        </p:nvGrpSpPr>
        <p:grpSpPr>
          <a:xfrm>
            <a:off x="830392" y="1191256"/>
            <a:ext cx="745763" cy="45826"/>
            <a:chOff x="4580561" y="2589004"/>
            <a:chExt cx="1064464" cy="25200"/>
          </a:xfrm>
        </p:grpSpPr>
        <p:sp>
          <p:nvSpPr>
            <p:cNvPr id="59" name="Google Shape;59;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3"/>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3"/>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4"/>
          <p:cNvGrpSpPr/>
          <p:nvPr/>
        </p:nvGrpSpPr>
        <p:grpSpPr>
          <a:xfrm>
            <a:off x="830392" y="4169130"/>
            <a:ext cx="745763" cy="45826"/>
            <a:chOff x="4580561" y="2589004"/>
            <a:chExt cx="1064464" cy="25200"/>
          </a:xfrm>
        </p:grpSpPr>
        <p:sp>
          <p:nvSpPr>
            <p:cNvPr id="66" name="Google Shape;66;p6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4"/>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65"/>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66"/>
          <p:cNvGrpSpPr/>
          <p:nvPr/>
        </p:nvGrpSpPr>
        <p:grpSpPr>
          <a:xfrm>
            <a:off x="830392" y="4169130"/>
            <a:ext cx="745763" cy="45826"/>
            <a:chOff x="4580561" y="2589004"/>
            <a:chExt cx="1064464" cy="25200"/>
          </a:xfrm>
        </p:grpSpPr>
        <p:sp>
          <p:nvSpPr>
            <p:cNvPr id="75" name="Google Shape;75;p6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66"/>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66"/>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Regresión Lineal</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Aprendizaje Automático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4657"/>
              <a:buNone/>
            </a:pPr>
            <a:r>
              <a:rPr lang="es-419" sz="3822"/>
              <a:t>Gradiente Descendiente</a:t>
            </a:r>
            <a:endParaRPr sz="3822"/>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85614"/>
              <a:buNone/>
            </a:pPr>
            <a:r>
              <a:rPr lang="es-419" sz="2155"/>
              <a:t>Descent Gradient </a:t>
            </a:r>
            <a:endParaRPr sz="2155"/>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Gradiente Descendiente</a:t>
            </a:r>
            <a:endParaRPr/>
          </a:p>
        </p:txBody>
      </p:sp>
      <p:sp>
        <p:nvSpPr>
          <p:cNvPr id="98" name="Google Shape;98;p1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a:t>Algoritmo de optimización.</a:t>
            </a:r>
            <a:endParaRPr/>
          </a:p>
          <a:p>
            <a:pPr indent="0" lvl="0" marL="0" rtl="0" algn="l">
              <a:lnSpc>
                <a:spcPct val="115000"/>
              </a:lnSpc>
              <a:spcBef>
                <a:spcPts val="1200"/>
              </a:spcBef>
              <a:spcAft>
                <a:spcPts val="0"/>
              </a:spcAft>
              <a:buSzPts val="1300"/>
              <a:buNone/>
            </a:pPr>
            <a:r>
              <a:rPr lang="es-419"/>
              <a:t>Enfoque iterativo.</a:t>
            </a:r>
            <a:endParaRPr/>
          </a:p>
          <a:p>
            <a:pPr indent="0" lvl="0" marL="0" rtl="0" algn="l">
              <a:lnSpc>
                <a:spcPct val="115000"/>
              </a:lnSpc>
              <a:spcBef>
                <a:spcPts val="1200"/>
              </a:spcBef>
              <a:spcAft>
                <a:spcPts val="0"/>
              </a:spcAft>
              <a:buSzPts val="1300"/>
              <a:buNone/>
            </a:pPr>
            <a:r>
              <a:rPr lang="es-419"/>
              <a:t>Puede ser más conveniente computacionalmente (iteraciones vs cálculos matriciales complejos).</a:t>
            </a:r>
            <a:endParaRPr/>
          </a:p>
          <a:p>
            <a:pPr indent="0" lvl="0" marL="0" rtl="0" algn="l">
              <a:lnSpc>
                <a:spcPct val="115000"/>
              </a:lnSpc>
              <a:spcBef>
                <a:spcPts val="1200"/>
              </a:spcBef>
              <a:spcAft>
                <a:spcPts val="0"/>
              </a:spcAft>
              <a:buSzPts val="1300"/>
              <a:buNone/>
            </a:pPr>
            <a:r>
              <a:rPr lang="es-419"/>
              <a:t>Gradiente descendiente. Gradiente descendiente estocástico.  Gradiente descendiente mini-batch.</a:t>
            </a:r>
            <a:endParaRPr/>
          </a:p>
          <a:p>
            <a:pPr indent="0" lvl="0" marL="0" rtl="0" algn="l">
              <a:lnSpc>
                <a:spcPct val="115000"/>
              </a:lnSpc>
              <a:spcBef>
                <a:spcPts val="1200"/>
              </a:spcBef>
              <a:spcAft>
                <a:spcPts val="1200"/>
              </a:spcAft>
              <a:buSzPts val="1300"/>
              <a:buNone/>
            </a:pPr>
            <a:r>
              <a:rPr lang="es-419"/>
              <a:t>Overfitting.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4" name="Google Shape;104;p1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05" name="Google Shape;105;p19"/>
          <p:cNvPicPr preferRelativeResize="0"/>
          <p:nvPr/>
        </p:nvPicPr>
        <p:blipFill rotWithShape="1">
          <a:blip r:embed="rId3">
            <a:alphaModFix/>
          </a:blip>
          <a:srcRect b="0" l="0" r="0" t="0"/>
          <a:stretch/>
        </p:blipFill>
        <p:spPr>
          <a:xfrm>
            <a:off x="525675" y="748913"/>
            <a:ext cx="8096250" cy="4200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idx="1" type="body"/>
          </p:nvPr>
        </p:nvSpPr>
        <p:spPr>
          <a:xfrm>
            <a:off x="4572000" y="1181500"/>
            <a:ext cx="4295400" cy="3710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500"/>
              </a:spcBef>
              <a:spcAft>
                <a:spcPts val="0"/>
              </a:spcAft>
              <a:buSzPts val="1300"/>
              <a:buNone/>
            </a:pPr>
            <a:r>
              <a:rPr lang="es-419" sz="1400">
                <a:solidFill>
                  <a:srgbClr val="212121"/>
                </a:solidFill>
                <a:highlight>
                  <a:schemeClr val="lt1"/>
                </a:highlight>
              </a:rPr>
              <a:t>El gradiente de una función es un vector que apunta en la dirección de la mayor derivada de la función en un punto dado. Establece la dirección en la que la función está aumentando más rápidamente.</a:t>
            </a:r>
            <a:endParaRPr sz="1400">
              <a:solidFill>
                <a:srgbClr val="212121"/>
              </a:solidFill>
              <a:highlight>
                <a:schemeClr val="lt1"/>
              </a:highlight>
            </a:endParaRPr>
          </a:p>
          <a:p>
            <a:pPr indent="0" lvl="0" marL="0" rtl="0" algn="l">
              <a:lnSpc>
                <a:spcPct val="115000"/>
              </a:lnSpc>
              <a:spcBef>
                <a:spcPts val="1500"/>
              </a:spcBef>
              <a:spcAft>
                <a:spcPts val="0"/>
              </a:spcAft>
              <a:buSzPts val="1300"/>
              <a:buNone/>
            </a:pPr>
            <a:r>
              <a:rPr lang="es-419" sz="1400">
                <a:solidFill>
                  <a:srgbClr val="212121"/>
                </a:solidFill>
                <a:highlight>
                  <a:schemeClr val="lt1"/>
                </a:highlight>
              </a:rPr>
              <a:t>Cuando estamos tratando de minimizar una función, se busca encontrar el punto donde la función alcanza su valor mínimo. En el mínimo de la función, el gradiente es igual a cero. </a:t>
            </a:r>
            <a:endParaRPr sz="1400">
              <a:solidFill>
                <a:srgbClr val="212121"/>
              </a:solidFill>
              <a:highlight>
                <a:schemeClr val="lt1"/>
              </a:highlight>
            </a:endParaRPr>
          </a:p>
          <a:p>
            <a:pPr indent="0" lvl="0" marL="0" rtl="0" algn="l">
              <a:lnSpc>
                <a:spcPct val="115000"/>
              </a:lnSpc>
              <a:spcBef>
                <a:spcPts val="1500"/>
              </a:spcBef>
              <a:spcAft>
                <a:spcPts val="0"/>
              </a:spcAft>
              <a:buSzPts val="1300"/>
              <a:buNone/>
            </a:pPr>
            <a:r>
              <a:rPr lang="es-419" sz="1400">
                <a:solidFill>
                  <a:srgbClr val="212121"/>
                </a:solidFill>
                <a:highlight>
                  <a:schemeClr val="lt1"/>
                </a:highlight>
              </a:rPr>
              <a:t>Si se mueve en la dirección opuesta al gradiente, nos acercamos al mínimo.</a:t>
            </a:r>
            <a:endParaRPr sz="1400">
              <a:solidFill>
                <a:srgbClr val="212121"/>
              </a:solidFill>
              <a:highlight>
                <a:schemeClr val="lt1"/>
              </a:highlight>
            </a:endParaRPr>
          </a:p>
          <a:p>
            <a:pPr indent="0" lvl="0" marL="0" rtl="0" algn="l">
              <a:lnSpc>
                <a:spcPct val="115000"/>
              </a:lnSpc>
              <a:spcBef>
                <a:spcPts val="1500"/>
              </a:spcBef>
              <a:spcAft>
                <a:spcPts val="0"/>
              </a:spcAft>
              <a:buSzPts val="1300"/>
              <a:buNone/>
            </a:pPr>
            <a:r>
              <a:rPr lang="es-419" sz="1400">
                <a:solidFill>
                  <a:srgbClr val="212121"/>
                </a:solidFill>
                <a:highlight>
                  <a:schemeClr val="lt1"/>
                </a:highlight>
              </a:rPr>
              <a:t>Pero puede ser un mínimo global, o local.</a:t>
            </a:r>
            <a:endParaRPr sz="1400">
              <a:solidFill>
                <a:srgbClr val="212121"/>
              </a:solidFill>
              <a:highlight>
                <a:schemeClr val="lt1"/>
              </a:highlight>
            </a:endParaRPr>
          </a:p>
          <a:p>
            <a:pPr indent="0" lvl="0" marL="0" rtl="0" algn="l">
              <a:lnSpc>
                <a:spcPct val="115000"/>
              </a:lnSpc>
              <a:spcBef>
                <a:spcPts val="1500"/>
              </a:spcBef>
              <a:spcAft>
                <a:spcPts val="1200"/>
              </a:spcAft>
              <a:buSzPts val="1300"/>
              <a:buNone/>
            </a:pPr>
            <a:r>
              <a:t/>
            </a:r>
            <a:endParaRPr/>
          </a:p>
        </p:txBody>
      </p:sp>
      <p:pic>
        <p:nvPicPr>
          <p:cNvPr id="111" name="Google Shape;111;p20"/>
          <p:cNvPicPr preferRelativeResize="0"/>
          <p:nvPr/>
        </p:nvPicPr>
        <p:blipFill rotWithShape="1">
          <a:blip r:embed="rId3">
            <a:alphaModFix/>
          </a:blip>
          <a:srcRect b="0" l="0" r="0" t="0"/>
          <a:stretch/>
        </p:blipFill>
        <p:spPr>
          <a:xfrm>
            <a:off x="997275" y="871300"/>
            <a:ext cx="3504675" cy="3757950"/>
          </a:xfrm>
          <a:prstGeom prst="rect">
            <a:avLst/>
          </a:prstGeom>
          <a:noFill/>
          <a:ln>
            <a:noFill/>
          </a:ln>
        </p:spPr>
      </p:pic>
      <p:pic>
        <p:nvPicPr>
          <p:cNvPr id="112" name="Google Shape;112;p20"/>
          <p:cNvPicPr preferRelativeResize="0"/>
          <p:nvPr/>
        </p:nvPicPr>
        <p:blipFill rotWithShape="1">
          <a:blip r:embed="rId4">
            <a:alphaModFix/>
          </a:blip>
          <a:srcRect b="0" l="0" r="0" t="0"/>
          <a:stretch/>
        </p:blipFill>
        <p:spPr>
          <a:xfrm>
            <a:off x="119749" y="98399"/>
            <a:ext cx="1443885" cy="1237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18" name="Google Shape;118;p2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19" name="Google Shape;119;p21"/>
          <p:cNvPicPr preferRelativeResize="0"/>
          <p:nvPr/>
        </p:nvPicPr>
        <p:blipFill rotWithShape="1">
          <a:blip r:embed="rId3">
            <a:alphaModFix/>
          </a:blip>
          <a:srcRect b="0" l="0" r="0" t="0"/>
          <a:stretch/>
        </p:blipFill>
        <p:spPr>
          <a:xfrm>
            <a:off x="423400" y="822225"/>
            <a:ext cx="8300800" cy="40823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p:txBody>
      </p:sp>
      <p:sp>
        <p:nvSpPr>
          <p:cNvPr id="125" name="Google Shape;125;p2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s-419"/>
              <a:t>Se parte de un vector inicial en el espacio de n dimensiones (características)  (x1, x2, …, xn).</a:t>
            </a:r>
            <a:endParaRPr/>
          </a:p>
          <a:p>
            <a:pPr indent="0" lvl="0" marL="0" rtl="0" algn="l">
              <a:lnSpc>
                <a:spcPct val="115000"/>
              </a:lnSpc>
              <a:spcBef>
                <a:spcPts val="1200"/>
              </a:spcBef>
              <a:spcAft>
                <a:spcPts val="0"/>
              </a:spcAft>
              <a:buSzPts val="1300"/>
              <a:buNone/>
            </a:pPr>
            <a:r>
              <a:rPr lang="es-419"/>
              <a:t>Se obtiene el gradiente de la función de pérdida (u optimización) para ese punto x.</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126" name="Google Shape;126;p22"/>
          <p:cNvPicPr preferRelativeResize="0"/>
          <p:nvPr/>
        </p:nvPicPr>
        <p:blipFill rotWithShape="1">
          <a:blip r:embed="rId3">
            <a:alphaModFix/>
          </a:blip>
          <a:srcRect b="0" l="0" r="0" t="0"/>
          <a:stretch/>
        </p:blipFill>
        <p:spPr>
          <a:xfrm>
            <a:off x="2407325" y="2777175"/>
            <a:ext cx="4329349" cy="864500"/>
          </a:xfrm>
          <a:prstGeom prst="rect">
            <a:avLst/>
          </a:prstGeom>
          <a:noFill/>
          <a:ln>
            <a:noFill/>
          </a:ln>
        </p:spPr>
      </p:pic>
      <p:pic>
        <p:nvPicPr>
          <p:cNvPr id="127" name="Google Shape;127;p22"/>
          <p:cNvPicPr preferRelativeResize="0"/>
          <p:nvPr/>
        </p:nvPicPr>
        <p:blipFill rotWithShape="1">
          <a:blip r:embed="rId4">
            <a:alphaModFix/>
          </a:blip>
          <a:srcRect b="0" l="0" r="0" t="0"/>
          <a:stretch/>
        </p:blipFill>
        <p:spPr>
          <a:xfrm>
            <a:off x="2653225" y="3641675"/>
            <a:ext cx="3841149" cy="1367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a:p>
            <a:pPr indent="0" lvl="0" marL="0" rtl="0" algn="l">
              <a:lnSpc>
                <a:spcPct val="100000"/>
              </a:lnSpc>
              <a:spcBef>
                <a:spcPts val="0"/>
              </a:spcBef>
              <a:spcAft>
                <a:spcPts val="0"/>
              </a:spcAft>
              <a:buSzPct val="111111"/>
              <a:buNone/>
            </a:pPr>
            <a:r>
              <a:t/>
            </a:r>
            <a:endParaRPr/>
          </a:p>
        </p:txBody>
      </p:sp>
      <p:sp>
        <p:nvSpPr>
          <p:cNvPr id="133" name="Google Shape;133;p23"/>
          <p:cNvSpPr txBox="1"/>
          <p:nvPr>
            <p:ph idx="1" type="body"/>
          </p:nvPr>
        </p:nvSpPr>
        <p:spPr>
          <a:xfrm>
            <a:off x="729450" y="2078875"/>
            <a:ext cx="7688700" cy="288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134" name="Google Shape;134;p23"/>
          <p:cNvPicPr preferRelativeResize="0"/>
          <p:nvPr/>
        </p:nvPicPr>
        <p:blipFill rotWithShape="1">
          <a:blip r:embed="rId3">
            <a:alphaModFix/>
          </a:blip>
          <a:srcRect b="0" l="0" r="0" t="0"/>
          <a:stretch/>
        </p:blipFill>
        <p:spPr>
          <a:xfrm>
            <a:off x="729450" y="1960600"/>
            <a:ext cx="7688701" cy="845250"/>
          </a:xfrm>
          <a:prstGeom prst="rect">
            <a:avLst/>
          </a:prstGeom>
          <a:noFill/>
          <a:ln>
            <a:noFill/>
          </a:ln>
        </p:spPr>
      </p:pic>
      <p:pic>
        <p:nvPicPr>
          <p:cNvPr id="135" name="Google Shape;135;p23"/>
          <p:cNvPicPr preferRelativeResize="0"/>
          <p:nvPr/>
        </p:nvPicPr>
        <p:blipFill rotWithShape="1">
          <a:blip r:embed="rId4">
            <a:alphaModFix/>
          </a:blip>
          <a:srcRect b="0" l="0" r="0" t="0"/>
          <a:stretch/>
        </p:blipFill>
        <p:spPr>
          <a:xfrm>
            <a:off x="729444" y="2912600"/>
            <a:ext cx="3656256" cy="2054075"/>
          </a:xfrm>
          <a:prstGeom prst="rect">
            <a:avLst/>
          </a:prstGeom>
          <a:noFill/>
          <a:ln>
            <a:noFill/>
          </a:ln>
        </p:spPr>
      </p:pic>
      <p:sp>
        <p:nvSpPr>
          <p:cNvPr id="136" name="Google Shape;136;p23"/>
          <p:cNvSpPr txBox="1"/>
          <p:nvPr/>
        </p:nvSpPr>
        <p:spPr>
          <a:xfrm>
            <a:off x="4928025" y="3467500"/>
            <a:ext cx="3888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sería mejor de forma matricial para no tener que codear por cada feature del modelo, ¿no?</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a:p>
            <a:pPr indent="0" lvl="0" marL="0" rtl="0" algn="l">
              <a:lnSpc>
                <a:spcPct val="100000"/>
              </a:lnSpc>
              <a:spcBef>
                <a:spcPts val="0"/>
              </a:spcBef>
              <a:spcAft>
                <a:spcPts val="0"/>
              </a:spcAft>
              <a:buSzPct val="111111"/>
              <a:buNone/>
            </a:pPr>
            <a:r>
              <a:t/>
            </a:r>
            <a:endParaRPr/>
          </a:p>
        </p:txBody>
      </p:sp>
      <p:sp>
        <p:nvSpPr>
          <p:cNvPr id="142" name="Google Shape;142;p2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43" name="Google Shape;143;p24"/>
          <p:cNvPicPr preferRelativeResize="0"/>
          <p:nvPr/>
        </p:nvPicPr>
        <p:blipFill rotWithShape="1">
          <a:blip r:embed="rId3">
            <a:alphaModFix/>
          </a:blip>
          <a:srcRect b="0" l="0" r="0" t="0"/>
          <a:stretch/>
        </p:blipFill>
        <p:spPr>
          <a:xfrm>
            <a:off x="729450" y="2078875"/>
            <a:ext cx="7688700" cy="20621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a:p>
            <a:pPr indent="0" lvl="0" marL="0" rtl="0" algn="l">
              <a:lnSpc>
                <a:spcPct val="100000"/>
              </a:lnSpc>
              <a:spcBef>
                <a:spcPts val="0"/>
              </a:spcBef>
              <a:spcAft>
                <a:spcPts val="0"/>
              </a:spcAft>
              <a:buSzPct val="111111"/>
              <a:buNone/>
            </a:pPr>
            <a:r>
              <a:t/>
            </a:r>
            <a:endParaRPr/>
          </a:p>
        </p:txBody>
      </p:sp>
      <p:sp>
        <p:nvSpPr>
          <p:cNvPr id="149" name="Google Shape;149;p2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s-419"/>
              <a:t>Se invierte la dirección del gradiente. Para ir hacia la dirección de minimización.</a:t>
            </a:r>
            <a:endParaRPr/>
          </a:p>
          <a:p>
            <a:pPr indent="0" lvl="0" marL="0" rtl="0" algn="l">
              <a:lnSpc>
                <a:spcPct val="115000"/>
              </a:lnSpc>
              <a:spcBef>
                <a:spcPts val="1200"/>
              </a:spcBef>
              <a:spcAft>
                <a:spcPts val="0"/>
              </a:spcAft>
              <a:buSzPct val="117647"/>
              <a:buNone/>
            </a:pPr>
            <a:r>
              <a:rPr lang="es-419"/>
              <a:t>Se lo pondera con un factor de aprendizaje (usualmente llamado learning_rate o lr).</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rPr lang="es-419"/>
              <a:t>Se actualiza el vector</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rPr lang="es-419"/>
              <a:t>Se repite el proceso, hasta una cantidad máxima de iteraciones o hasta encontrar una tolerancia adecuada en el error.</a:t>
            </a:r>
            <a:endParaRPr/>
          </a:p>
          <a:p>
            <a:pPr indent="0" lvl="0" marL="0" rtl="0" algn="l">
              <a:lnSpc>
                <a:spcPct val="115000"/>
              </a:lnSpc>
              <a:spcBef>
                <a:spcPts val="1200"/>
              </a:spcBef>
              <a:spcAft>
                <a:spcPts val="1200"/>
              </a:spcAft>
              <a:buSzPct val="117647"/>
              <a:buNone/>
            </a:pPr>
            <a:r>
              <a:t/>
            </a:r>
            <a:endParaRPr/>
          </a:p>
        </p:txBody>
      </p:sp>
      <p:pic>
        <p:nvPicPr>
          <p:cNvPr id="150" name="Google Shape;150;p25"/>
          <p:cNvPicPr preferRelativeResize="0"/>
          <p:nvPr/>
        </p:nvPicPr>
        <p:blipFill rotWithShape="1">
          <a:blip r:embed="rId3">
            <a:alphaModFix/>
          </a:blip>
          <a:srcRect b="0" l="0" r="0" t="0"/>
          <a:stretch/>
        </p:blipFill>
        <p:spPr>
          <a:xfrm>
            <a:off x="2504000" y="2785050"/>
            <a:ext cx="2343150" cy="590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Learning rate (ratio de aprendizaje)</a:t>
            </a:r>
            <a:endParaRPr/>
          </a:p>
          <a:p>
            <a:pPr indent="0" lvl="0" marL="0" rtl="0" algn="l">
              <a:lnSpc>
                <a:spcPct val="100000"/>
              </a:lnSpc>
              <a:spcBef>
                <a:spcPts val="0"/>
              </a:spcBef>
              <a:spcAft>
                <a:spcPts val="0"/>
              </a:spcAft>
              <a:buSzPct val="111111"/>
              <a:buNone/>
            </a:pPr>
            <a:r>
              <a:t/>
            </a:r>
            <a:endParaRPr/>
          </a:p>
        </p:txBody>
      </p:sp>
      <p:sp>
        <p:nvSpPr>
          <p:cNvPr id="156" name="Google Shape;156;p2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57" name="Google Shape;157;p26"/>
          <p:cNvPicPr preferRelativeResize="0"/>
          <p:nvPr/>
        </p:nvPicPr>
        <p:blipFill rotWithShape="1">
          <a:blip r:embed="rId3">
            <a:alphaModFix/>
          </a:blip>
          <a:srcRect b="0" l="0" r="0" t="0"/>
          <a:stretch/>
        </p:blipFill>
        <p:spPr>
          <a:xfrm>
            <a:off x="705600" y="1993224"/>
            <a:ext cx="7736401" cy="3000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Gradiente descendiente estocástico</a:t>
            </a:r>
            <a:endParaRPr/>
          </a:p>
        </p:txBody>
      </p:sp>
      <p:sp>
        <p:nvSpPr>
          <p:cNvPr id="163" name="Google Shape;163;p27"/>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Gradiente descendiente estocástico</a:t>
            </a:r>
            <a:endParaRPr/>
          </a:p>
        </p:txBody>
      </p:sp>
      <p:sp>
        <p:nvSpPr>
          <p:cNvPr id="169" name="Google Shape;169;p2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a:t>También busca optimizar por la dirección opuesta al gradiente.</a:t>
            </a:r>
            <a:endParaRPr/>
          </a:p>
          <a:p>
            <a:pPr indent="0" lvl="0" marL="0" rtl="0" algn="l">
              <a:lnSpc>
                <a:spcPct val="115000"/>
              </a:lnSpc>
              <a:spcBef>
                <a:spcPts val="1200"/>
              </a:spcBef>
              <a:spcAft>
                <a:spcPts val="0"/>
              </a:spcAft>
              <a:buSzPts val="1300"/>
              <a:buNone/>
            </a:pPr>
            <a:r>
              <a:rPr lang="es-419"/>
              <a:t>La diferencia es que no se usa todo el dataset para calcular el gradiente, </a:t>
            </a:r>
            <a:r>
              <a:rPr b="1" lang="es-419"/>
              <a:t>sino de a un dato.</a:t>
            </a:r>
            <a:endParaRPr b="1"/>
          </a:p>
          <a:p>
            <a:pPr indent="0" lvl="0" marL="0" rtl="0" algn="l">
              <a:lnSpc>
                <a:spcPct val="115000"/>
              </a:lnSpc>
              <a:spcBef>
                <a:spcPts val="1200"/>
              </a:spcBef>
              <a:spcAft>
                <a:spcPts val="0"/>
              </a:spcAft>
              <a:buSzPts val="1300"/>
              <a:buNone/>
            </a:pPr>
            <a:r>
              <a:rPr lang="es-419"/>
              <a:t>Se ordenan los datos aleatoriamente. Se calcula el gradiente para la primer muestra, se actualiza el vector y se continúa así con todas las muestras. Recién ahí, se llega a la segunda época.</a:t>
            </a:r>
            <a:endParaRPr/>
          </a:p>
          <a:p>
            <a:pPr indent="0" lvl="0" marL="0" rtl="0" algn="l">
              <a:lnSpc>
                <a:spcPct val="115000"/>
              </a:lnSpc>
              <a:spcBef>
                <a:spcPts val="1200"/>
              </a:spcBef>
              <a:spcAft>
                <a:spcPts val="0"/>
              </a:spcAft>
              <a:buSzPts val="1300"/>
              <a:buNone/>
            </a:pPr>
            <a:r>
              <a:rPr lang="es-419"/>
              <a:t>El enfoque estocástico se da al “muestrear” el dataset.</a:t>
            </a:r>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Gradiente descendiente estocástico</a:t>
            </a:r>
            <a:endParaRPr/>
          </a:p>
          <a:p>
            <a:pPr indent="0" lvl="0" marL="0" rtl="0" algn="l">
              <a:lnSpc>
                <a:spcPct val="100000"/>
              </a:lnSpc>
              <a:spcBef>
                <a:spcPts val="0"/>
              </a:spcBef>
              <a:spcAft>
                <a:spcPts val="0"/>
              </a:spcAft>
              <a:buSzPct val="111111"/>
              <a:buNone/>
            </a:pPr>
            <a:r>
              <a:t/>
            </a:r>
            <a:endParaRPr/>
          </a:p>
        </p:txBody>
      </p:sp>
      <p:sp>
        <p:nvSpPr>
          <p:cNvPr id="175" name="Google Shape;175;p2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a:t>Es menos costoso calcular el error y el gradiente por muestra y no por todo el dataset completo.</a:t>
            </a:r>
            <a:endParaRPr/>
          </a:p>
          <a:p>
            <a:pPr indent="0" lvl="0" marL="0" rtl="0" algn="l">
              <a:lnSpc>
                <a:spcPct val="115000"/>
              </a:lnSpc>
              <a:spcBef>
                <a:spcPts val="1200"/>
              </a:spcBef>
              <a:spcAft>
                <a:spcPts val="0"/>
              </a:spcAft>
              <a:buSzPts val="1300"/>
              <a:buNone/>
            </a:pPr>
            <a:r>
              <a:rPr lang="es-419"/>
              <a:t>Optimización de rapidez debido a que se calcula una primer muestra y ya se empieza a hacer la optimización.</a:t>
            </a:r>
            <a:endParaRPr/>
          </a:p>
          <a:p>
            <a:pPr indent="0" lvl="0" marL="0" rtl="0" algn="l">
              <a:lnSpc>
                <a:spcPct val="115000"/>
              </a:lnSpc>
              <a:spcBef>
                <a:spcPts val="1200"/>
              </a:spcBef>
              <a:spcAft>
                <a:spcPts val="1200"/>
              </a:spcAft>
              <a:buSzPts val="1300"/>
              <a:buNone/>
            </a:pPr>
            <a:r>
              <a:rPr lang="es-419"/>
              <a:t>Sin embargo usar de a un dato puede dar lugar a una exploración más ruidosa del problema.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30"/>
          <p:cNvPicPr preferRelativeResize="0"/>
          <p:nvPr/>
        </p:nvPicPr>
        <p:blipFill rotWithShape="1">
          <a:blip r:embed="rId3">
            <a:alphaModFix/>
          </a:blip>
          <a:srcRect b="0" l="0" r="0" t="0"/>
          <a:stretch/>
        </p:blipFill>
        <p:spPr>
          <a:xfrm>
            <a:off x="1803713" y="1134671"/>
            <a:ext cx="5536576" cy="3460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Gradiente Descendiente mini-batch</a:t>
            </a:r>
            <a:endParaRPr/>
          </a:p>
        </p:txBody>
      </p:sp>
      <p:sp>
        <p:nvSpPr>
          <p:cNvPr id="186" name="Google Shape;186;p31"/>
          <p:cNvSpPr txBox="1"/>
          <p:nvPr>
            <p:ph idx="1" type="body"/>
          </p:nvPr>
        </p:nvSpPr>
        <p:spPr>
          <a:xfrm>
            <a:off x="729450" y="2078875"/>
            <a:ext cx="7688700" cy="27189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s-419"/>
              <a:t>Ni usamos todo el dataset ni solo una muestra a la vez, sino un batch (lote).</a:t>
            </a:r>
            <a:endParaRPr/>
          </a:p>
          <a:p>
            <a:pPr indent="-311150" lvl="0" marL="457200" rtl="0" algn="l">
              <a:lnSpc>
                <a:spcPct val="115000"/>
              </a:lnSpc>
              <a:spcBef>
                <a:spcPts val="0"/>
              </a:spcBef>
              <a:spcAft>
                <a:spcPts val="0"/>
              </a:spcAft>
              <a:buSzPts val="1300"/>
              <a:buChar char="●"/>
            </a:pPr>
            <a:r>
              <a:rPr lang="es-419"/>
              <a:t>El dataset se divide en n batches.</a:t>
            </a:r>
            <a:endParaRPr/>
          </a:p>
          <a:p>
            <a:pPr indent="-311150" lvl="0" marL="457200" rtl="0" algn="l">
              <a:lnSpc>
                <a:spcPct val="115000"/>
              </a:lnSpc>
              <a:spcBef>
                <a:spcPts val="0"/>
              </a:spcBef>
              <a:spcAft>
                <a:spcPts val="0"/>
              </a:spcAft>
              <a:buSzPts val="1300"/>
              <a:buChar char="●"/>
            </a:pPr>
            <a:r>
              <a:rPr lang="es-419"/>
              <a:t>Se calcula el gradiente para un batch y se ajusta el vector. Luego para el siguiente batch y así sucesivamente.</a:t>
            </a:r>
            <a:endParaRPr/>
          </a:p>
          <a:p>
            <a:pPr indent="0" lvl="0" marL="457200" rtl="0" algn="l">
              <a:lnSpc>
                <a:spcPct val="115000"/>
              </a:lnSpc>
              <a:spcBef>
                <a:spcPts val="1200"/>
              </a:spcBef>
              <a:spcAft>
                <a:spcPts val="0"/>
              </a:spcAft>
              <a:buSzPts val="1300"/>
              <a:buNone/>
            </a:pPr>
            <a:r>
              <a:t/>
            </a:r>
            <a:endParaRPr/>
          </a:p>
          <a:p>
            <a:pPr indent="-311150" lvl="0" marL="457200" rtl="0" algn="l">
              <a:lnSpc>
                <a:spcPct val="115000"/>
              </a:lnSpc>
              <a:spcBef>
                <a:spcPts val="1200"/>
              </a:spcBef>
              <a:spcAft>
                <a:spcPts val="0"/>
              </a:spcAft>
              <a:buSzPts val="1300"/>
              <a:buChar char="●"/>
            </a:pPr>
            <a:r>
              <a:rPr lang="es-419"/>
              <a:t>Luego de una época, se vuelven a obtener los distintos batches (para que tengan datos distintos).</a:t>
            </a:r>
            <a:endParaRPr/>
          </a:p>
          <a:p>
            <a:pPr indent="-311150" lvl="0" marL="457200" rtl="0" algn="l">
              <a:lnSpc>
                <a:spcPct val="115000"/>
              </a:lnSpc>
              <a:spcBef>
                <a:spcPts val="0"/>
              </a:spcBef>
              <a:spcAft>
                <a:spcPts val="0"/>
              </a:spcAft>
              <a:buSzPts val="1300"/>
              <a:buChar char="●"/>
            </a:pPr>
            <a:r>
              <a:rPr lang="es-419"/>
              <a:t>Converge más rápido que GD y con menor ruido que SGD.</a:t>
            </a:r>
            <a:endParaRPr/>
          </a:p>
          <a:p>
            <a:pPr indent="-311150" lvl="0" marL="457200" rtl="0" algn="l">
              <a:lnSpc>
                <a:spcPct val="115000"/>
              </a:lnSpc>
              <a:spcBef>
                <a:spcPts val="0"/>
              </a:spcBef>
              <a:spcAft>
                <a:spcPts val="0"/>
              </a:spcAft>
              <a:buSzPts val="1300"/>
              <a:buChar char="●"/>
            </a:pPr>
            <a:r>
              <a:rPr lang="es-419"/>
              <a:t>El tamaño del batch es un </a:t>
            </a:r>
            <a:r>
              <a:rPr b="1" lang="es-419"/>
              <a:t>hiperparámetro</a:t>
            </a:r>
            <a:r>
              <a:rPr lang="es-419"/>
              <a:t> que debe ajustarse: si es muy grande, es similar a GD, y si es muy chico, es similar a SGD.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2"/>
          <p:cNvPicPr preferRelativeResize="0"/>
          <p:nvPr/>
        </p:nvPicPr>
        <p:blipFill rotWithShape="1">
          <a:blip r:embed="rId3">
            <a:alphaModFix/>
          </a:blip>
          <a:srcRect b="0" l="0" r="0" t="0"/>
          <a:stretch/>
        </p:blipFill>
        <p:spPr>
          <a:xfrm>
            <a:off x="1900616" y="1996624"/>
            <a:ext cx="5346374" cy="2767625"/>
          </a:xfrm>
          <a:prstGeom prst="rect">
            <a:avLst/>
          </a:prstGeom>
          <a:noFill/>
          <a:ln>
            <a:noFill/>
          </a:ln>
        </p:spPr>
      </p:pic>
      <p:sp>
        <p:nvSpPr>
          <p:cNvPr id="192" name="Google Shape;192;p3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GD vs SGD vs Mini-Batch GD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33"/>
          <p:cNvPicPr preferRelativeResize="0"/>
          <p:nvPr/>
        </p:nvPicPr>
        <p:blipFill rotWithShape="1">
          <a:blip r:embed="rId3">
            <a:alphaModFix/>
          </a:blip>
          <a:srcRect b="0" l="0" r="0" t="0"/>
          <a:stretch/>
        </p:blipFill>
        <p:spPr>
          <a:xfrm>
            <a:off x="836813" y="2063650"/>
            <a:ext cx="7473975" cy="2396975"/>
          </a:xfrm>
          <a:prstGeom prst="rect">
            <a:avLst/>
          </a:prstGeom>
          <a:noFill/>
          <a:ln>
            <a:noFill/>
          </a:ln>
        </p:spPr>
      </p:pic>
      <p:sp>
        <p:nvSpPr>
          <p:cNvPr id="198" name="Google Shape;198;p3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GD vs SGD vs Mini-Batch GD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GD vs SGD vs Mini-Batch GD</a:t>
            </a:r>
            <a:endParaRPr/>
          </a:p>
        </p:txBody>
      </p:sp>
      <p:sp>
        <p:nvSpPr>
          <p:cNvPr id="204" name="Google Shape;204;p3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205" name="Google Shape;205;p34"/>
          <p:cNvPicPr preferRelativeResize="0"/>
          <p:nvPr/>
        </p:nvPicPr>
        <p:blipFill rotWithShape="1">
          <a:blip r:embed="rId3">
            <a:alphaModFix/>
          </a:blip>
          <a:srcRect b="0" l="0" r="0" t="0"/>
          <a:stretch/>
        </p:blipFill>
        <p:spPr>
          <a:xfrm>
            <a:off x="729450" y="1989124"/>
            <a:ext cx="7993426" cy="2805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