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5143500" cx="9144000"/>
  <p:notesSz cx="6858000" cy="9144000"/>
  <p:embeddedFontLst>
    <p:embeddedFont>
      <p:font typeface="Raleway"/>
      <p:regular r:id="rId27"/>
      <p:bold r:id="rId28"/>
      <p:italic r:id="rId29"/>
      <p:boldItalic r:id="rId30"/>
    </p:embeddedFont>
    <p:embeddedFont>
      <p:font typeface="Lato"/>
      <p:regular r:id="rId31"/>
      <p:bold r:id="rId32"/>
      <p:italic r:id="rId33"/>
      <p:boldItalic r:id="rId34"/>
    </p:embeddedFont>
    <p:embeddedFont>
      <p:font typeface="Lora SemiBold"/>
      <p:regular r:id="rId35"/>
      <p:bold r:id="rId36"/>
      <p:italic r:id="rId37"/>
      <p:boldItalic r:id="rId38"/>
    </p:embeddedFont>
    <p:embeddedFont>
      <p:font typeface="Lora"/>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43" roundtripDataSignature="AMtx7mh6gRhma34IfwD3VKZLFz5mSqhbv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Lora-bold.fntdata"/><Relationship Id="rId20" Type="http://schemas.openxmlformats.org/officeDocument/2006/relationships/slide" Target="slides/slide15.xml"/><Relationship Id="rId42" Type="http://schemas.openxmlformats.org/officeDocument/2006/relationships/font" Target="fonts/Lora-boldItalic.fntdata"/><Relationship Id="rId41" Type="http://schemas.openxmlformats.org/officeDocument/2006/relationships/font" Target="fonts/Lora-italic.fntdata"/><Relationship Id="rId22" Type="http://schemas.openxmlformats.org/officeDocument/2006/relationships/slide" Target="slides/slide17.xml"/><Relationship Id="rId21" Type="http://schemas.openxmlformats.org/officeDocument/2006/relationships/slide" Target="slides/slide16.xml"/><Relationship Id="rId43" Type="http://customschemas.google.com/relationships/presentationmetadata" Target="metadata"/><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Raleway-bold.fntdata"/><Relationship Id="rId27" Type="http://schemas.openxmlformats.org/officeDocument/2006/relationships/font" Target="fonts/Raleway-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aleway-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Lato-regular.fntdata"/><Relationship Id="rId30" Type="http://schemas.openxmlformats.org/officeDocument/2006/relationships/font" Target="fonts/Raleway-boldItalic.fntdata"/><Relationship Id="rId11" Type="http://schemas.openxmlformats.org/officeDocument/2006/relationships/slide" Target="slides/slide6.xml"/><Relationship Id="rId33" Type="http://schemas.openxmlformats.org/officeDocument/2006/relationships/font" Target="fonts/Lato-italic.fntdata"/><Relationship Id="rId10" Type="http://schemas.openxmlformats.org/officeDocument/2006/relationships/slide" Target="slides/slide5.xml"/><Relationship Id="rId32" Type="http://schemas.openxmlformats.org/officeDocument/2006/relationships/font" Target="fonts/Lato-bold.fntdata"/><Relationship Id="rId13" Type="http://schemas.openxmlformats.org/officeDocument/2006/relationships/slide" Target="slides/slide8.xml"/><Relationship Id="rId35" Type="http://schemas.openxmlformats.org/officeDocument/2006/relationships/font" Target="fonts/LoraSemiBold-regular.fntdata"/><Relationship Id="rId12" Type="http://schemas.openxmlformats.org/officeDocument/2006/relationships/slide" Target="slides/slide7.xml"/><Relationship Id="rId34" Type="http://schemas.openxmlformats.org/officeDocument/2006/relationships/font" Target="fonts/Lato-boldItalic.fntdata"/><Relationship Id="rId15" Type="http://schemas.openxmlformats.org/officeDocument/2006/relationships/slide" Target="slides/slide10.xml"/><Relationship Id="rId37" Type="http://schemas.openxmlformats.org/officeDocument/2006/relationships/font" Target="fonts/LoraSemiBold-italic.fntdata"/><Relationship Id="rId14" Type="http://schemas.openxmlformats.org/officeDocument/2006/relationships/slide" Target="slides/slide9.xml"/><Relationship Id="rId36" Type="http://schemas.openxmlformats.org/officeDocument/2006/relationships/font" Target="fonts/LoraSemiBold-bold.fntdata"/><Relationship Id="rId17" Type="http://schemas.openxmlformats.org/officeDocument/2006/relationships/slide" Target="slides/slide12.xml"/><Relationship Id="rId39" Type="http://schemas.openxmlformats.org/officeDocument/2006/relationships/font" Target="fonts/Lora-regular.fntdata"/><Relationship Id="rId16" Type="http://schemas.openxmlformats.org/officeDocument/2006/relationships/slide" Target="slides/slide11.xml"/><Relationship Id="rId38" Type="http://schemas.openxmlformats.org/officeDocument/2006/relationships/font" Target="fonts/LoraSemiBold-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 name="Google Shape;84;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 name="Google Shape;9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 name="Google Shape;9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 name="Google Shape;104;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1" name="Google Shape;111;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9" name="Google Shape;119;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7" name="Google Shape;127;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3" name="Google Shape;133;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9" name="Google Shape;139;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5" name="Google Shape;145;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0" name="Google Shape;150;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5" name="Google Shape;155;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3" name="Google Shape;163;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5" name="Google Shape;175;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5" name="Google Shape;185;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2" name="Google Shape;192;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95883b0ceb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9" name="Google Shape;199;g395883b0ceb_2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95883b0ceb_2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4" name="Google Shape;204;g395883b0ceb_2_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95883b0ceb_2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0" name="Google Shape;210;g395883b0ceb_2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95883b0ceb_2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6" name="Google Shape;216;g395883b0ceb_2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95883b0ceb_2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2" name="Google Shape;222;g395883b0ceb_2_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57"/>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 name="Google Shape;11;p57"/>
          <p:cNvGrpSpPr/>
          <p:nvPr/>
        </p:nvGrpSpPr>
        <p:grpSpPr>
          <a:xfrm>
            <a:off x="830392" y="1191256"/>
            <a:ext cx="745763" cy="45826"/>
            <a:chOff x="4580561" y="2589004"/>
            <a:chExt cx="1064464" cy="25200"/>
          </a:xfrm>
        </p:grpSpPr>
        <p:sp>
          <p:nvSpPr>
            <p:cNvPr id="12" name="Google Shape;12;p5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5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 name="Google Shape;14;p57"/>
          <p:cNvSpPr txBox="1"/>
          <p:nvPr>
            <p:ph type="ctrTitle"/>
          </p:nvPr>
        </p:nvSpPr>
        <p:spPr>
          <a:xfrm>
            <a:off x="729450" y="1322450"/>
            <a:ext cx="7688100" cy="1664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p:txBody>
      </p:sp>
      <p:sp>
        <p:nvSpPr>
          <p:cNvPr id="15" name="Google Shape;15;p57"/>
          <p:cNvSpPr txBox="1"/>
          <p:nvPr>
            <p:ph idx="1" type="subTitle"/>
          </p:nvPr>
        </p:nvSpPr>
        <p:spPr>
          <a:xfrm>
            <a:off x="729627" y="3172900"/>
            <a:ext cx="7688100" cy="541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16" name="Google Shape;16;p57"/>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58"/>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9" name="Google Shape;19;p58"/>
          <p:cNvGrpSpPr/>
          <p:nvPr/>
        </p:nvGrpSpPr>
        <p:grpSpPr>
          <a:xfrm>
            <a:off x="830392" y="1191256"/>
            <a:ext cx="745763" cy="45826"/>
            <a:chOff x="4580561" y="2589004"/>
            <a:chExt cx="1064464" cy="25200"/>
          </a:xfrm>
        </p:grpSpPr>
        <p:sp>
          <p:nvSpPr>
            <p:cNvPr id="20" name="Google Shape;20;p58"/>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58"/>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2" name="Google Shape;22;p58"/>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23" name="Google Shape;23;p58"/>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24" name="Google Shape;24;p58"/>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5" name="Shape 25"/>
        <p:cNvGrpSpPr/>
        <p:nvPr/>
      </p:nvGrpSpPr>
      <p:grpSpPr>
        <a:xfrm>
          <a:off x="0" y="0"/>
          <a:ext cx="0" cy="0"/>
          <a:chOff x="0" y="0"/>
          <a:chExt cx="0" cy="0"/>
        </a:xfrm>
      </p:grpSpPr>
      <p:sp>
        <p:nvSpPr>
          <p:cNvPr id="26" name="Google Shape;26;p5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7" name="Google Shape;27;p59"/>
          <p:cNvGrpSpPr/>
          <p:nvPr/>
        </p:nvGrpSpPr>
        <p:grpSpPr>
          <a:xfrm>
            <a:off x="830392" y="1191256"/>
            <a:ext cx="745763" cy="45826"/>
            <a:chOff x="4580561" y="2589004"/>
            <a:chExt cx="1064464" cy="25200"/>
          </a:xfrm>
        </p:grpSpPr>
        <p:sp>
          <p:nvSpPr>
            <p:cNvPr id="28" name="Google Shape;28;p5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5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0" name="Google Shape;30;p59"/>
          <p:cNvSpPr txBox="1"/>
          <p:nvPr>
            <p:ph type="title"/>
          </p:nvPr>
        </p:nvSpPr>
        <p:spPr>
          <a:xfrm>
            <a:off x="730000" y="1318650"/>
            <a:ext cx="3300900" cy="1687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31" name="Google Shape;31;p59"/>
          <p:cNvSpPr txBox="1"/>
          <p:nvPr>
            <p:ph idx="1" type="subTitle"/>
          </p:nvPr>
        </p:nvSpPr>
        <p:spPr>
          <a:xfrm>
            <a:off x="724950" y="3161525"/>
            <a:ext cx="3300900" cy="759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32" name="Google Shape;32;p59"/>
          <p:cNvSpPr txBox="1"/>
          <p:nvPr>
            <p:ph idx="2" type="body"/>
          </p:nvPr>
        </p:nvSpPr>
        <p:spPr>
          <a:xfrm>
            <a:off x="5174225" y="1352625"/>
            <a:ext cx="3374400" cy="3025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33" name="Google Shape;33;p59"/>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34" name="Shape 34"/>
        <p:cNvGrpSpPr/>
        <p:nvPr/>
      </p:nvGrpSpPr>
      <p:grpSpPr>
        <a:xfrm>
          <a:off x="0" y="0"/>
          <a:ext cx="0" cy="0"/>
          <a:chOff x="0" y="0"/>
          <a:chExt cx="0" cy="0"/>
        </a:xfrm>
      </p:grpSpPr>
      <p:grpSp>
        <p:nvGrpSpPr>
          <p:cNvPr id="35" name="Google Shape;35;p60"/>
          <p:cNvGrpSpPr/>
          <p:nvPr/>
        </p:nvGrpSpPr>
        <p:grpSpPr>
          <a:xfrm>
            <a:off x="830392" y="1191256"/>
            <a:ext cx="745763" cy="45826"/>
            <a:chOff x="4580561" y="2589004"/>
            <a:chExt cx="1064464" cy="25200"/>
          </a:xfrm>
        </p:grpSpPr>
        <p:sp>
          <p:nvSpPr>
            <p:cNvPr id="36" name="Google Shape;36;p60"/>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60"/>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8" name="Google Shape;38;p60"/>
          <p:cNvSpPr txBox="1"/>
          <p:nvPr>
            <p:ph type="title"/>
          </p:nvPr>
        </p:nvSpPr>
        <p:spPr>
          <a:xfrm>
            <a:off x="729450" y="1322450"/>
            <a:ext cx="7688400" cy="1518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39" name="Google Shape;39;p60"/>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0" name="Shape 40"/>
        <p:cNvGrpSpPr/>
        <p:nvPr/>
      </p:nvGrpSpPr>
      <p:grpSpPr>
        <a:xfrm>
          <a:off x="0" y="0"/>
          <a:ext cx="0" cy="0"/>
          <a:chOff x="0" y="0"/>
          <a:chExt cx="0" cy="0"/>
        </a:xfrm>
      </p:grpSpPr>
      <p:sp>
        <p:nvSpPr>
          <p:cNvPr id="41" name="Google Shape;41;p61"/>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2" name="Google Shape;42;p61"/>
          <p:cNvGrpSpPr/>
          <p:nvPr/>
        </p:nvGrpSpPr>
        <p:grpSpPr>
          <a:xfrm>
            <a:off x="830392" y="1191256"/>
            <a:ext cx="745763" cy="45826"/>
            <a:chOff x="4580561" y="2589004"/>
            <a:chExt cx="1064464" cy="25200"/>
          </a:xfrm>
        </p:grpSpPr>
        <p:sp>
          <p:nvSpPr>
            <p:cNvPr id="43" name="Google Shape;43;p61"/>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61"/>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5" name="Google Shape;45;p61"/>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46" name="Google Shape;46;p61"/>
          <p:cNvSpPr txBox="1"/>
          <p:nvPr>
            <p:ph idx="1" type="body"/>
          </p:nvPr>
        </p:nvSpPr>
        <p:spPr>
          <a:xfrm>
            <a:off x="729325" y="2078875"/>
            <a:ext cx="37743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47" name="Google Shape;47;p61"/>
          <p:cNvSpPr txBox="1"/>
          <p:nvPr>
            <p:ph idx="2" type="body"/>
          </p:nvPr>
        </p:nvSpPr>
        <p:spPr>
          <a:xfrm>
            <a:off x="4643604" y="2078875"/>
            <a:ext cx="37743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48" name="Google Shape;48;p6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62"/>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1" name="Google Shape;51;p62"/>
          <p:cNvGrpSpPr/>
          <p:nvPr/>
        </p:nvGrpSpPr>
        <p:grpSpPr>
          <a:xfrm>
            <a:off x="830392" y="1191256"/>
            <a:ext cx="745763" cy="45826"/>
            <a:chOff x="4580561" y="2589004"/>
            <a:chExt cx="1064464" cy="25200"/>
          </a:xfrm>
        </p:grpSpPr>
        <p:sp>
          <p:nvSpPr>
            <p:cNvPr id="52" name="Google Shape;52;p6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6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4" name="Google Shape;54;p62"/>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55" name="Google Shape;55;p62"/>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6" name="Shape 56"/>
        <p:cNvGrpSpPr/>
        <p:nvPr/>
      </p:nvGrpSpPr>
      <p:grpSpPr>
        <a:xfrm>
          <a:off x="0" y="0"/>
          <a:ext cx="0" cy="0"/>
          <a:chOff x="0" y="0"/>
          <a:chExt cx="0" cy="0"/>
        </a:xfrm>
      </p:grpSpPr>
      <p:sp>
        <p:nvSpPr>
          <p:cNvPr id="57" name="Google Shape;57;p63"/>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8" name="Google Shape;58;p63"/>
          <p:cNvGrpSpPr/>
          <p:nvPr/>
        </p:nvGrpSpPr>
        <p:grpSpPr>
          <a:xfrm>
            <a:off x="830392" y="1191256"/>
            <a:ext cx="745763" cy="45826"/>
            <a:chOff x="4580561" y="2589004"/>
            <a:chExt cx="1064464" cy="25200"/>
          </a:xfrm>
        </p:grpSpPr>
        <p:sp>
          <p:nvSpPr>
            <p:cNvPr id="59" name="Google Shape;59;p63"/>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63"/>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1" name="Google Shape;61;p63"/>
          <p:cNvSpPr txBox="1"/>
          <p:nvPr>
            <p:ph type="title"/>
          </p:nvPr>
        </p:nvSpPr>
        <p:spPr>
          <a:xfrm>
            <a:off x="730000" y="1318650"/>
            <a:ext cx="3300900" cy="1381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62" name="Google Shape;62;p63"/>
          <p:cNvSpPr txBox="1"/>
          <p:nvPr>
            <p:ph idx="1" type="body"/>
          </p:nvPr>
        </p:nvSpPr>
        <p:spPr>
          <a:xfrm>
            <a:off x="721225" y="2781725"/>
            <a:ext cx="3300900" cy="1597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63" name="Google Shape;63;p6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64" name="Shape 64"/>
        <p:cNvGrpSpPr/>
        <p:nvPr/>
      </p:nvGrpSpPr>
      <p:grpSpPr>
        <a:xfrm>
          <a:off x="0" y="0"/>
          <a:ext cx="0" cy="0"/>
          <a:chOff x="0" y="0"/>
          <a:chExt cx="0" cy="0"/>
        </a:xfrm>
      </p:grpSpPr>
      <p:grpSp>
        <p:nvGrpSpPr>
          <p:cNvPr id="65" name="Google Shape;65;p64"/>
          <p:cNvGrpSpPr/>
          <p:nvPr/>
        </p:nvGrpSpPr>
        <p:grpSpPr>
          <a:xfrm>
            <a:off x="830392" y="4169130"/>
            <a:ext cx="745763" cy="45826"/>
            <a:chOff x="4580561" y="2589004"/>
            <a:chExt cx="1064464" cy="25200"/>
          </a:xfrm>
        </p:grpSpPr>
        <p:sp>
          <p:nvSpPr>
            <p:cNvPr id="66" name="Google Shape;66;p64"/>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64"/>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8" name="Google Shape;68;p64"/>
          <p:cNvSpPr txBox="1"/>
          <p:nvPr>
            <p:ph type="title"/>
          </p:nvPr>
        </p:nvSpPr>
        <p:spPr>
          <a:xfrm>
            <a:off x="729450" y="864300"/>
            <a:ext cx="7021200" cy="29850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69" name="Google Shape;69;p6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65"/>
          <p:cNvSpPr txBox="1"/>
          <p:nvPr>
            <p:ph idx="1" type="body"/>
          </p:nvPr>
        </p:nvSpPr>
        <p:spPr>
          <a:xfrm>
            <a:off x="724950" y="4372551"/>
            <a:ext cx="7697400" cy="4605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300"/>
              <a:buNone/>
              <a:defRPr/>
            </a:lvl1pPr>
          </a:lstStyle>
          <a:p/>
        </p:txBody>
      </p:sp>
      <p:sp>
        <p:nvSpPr>
          <p:cNvPr id="72" name="Google Shape;72;p65"/>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66"/>
          <p:cNvGrpSpPr/>
          <p:nvPr/>
        </p:nvGrpSpPr>
        <p:grpSpPr>
          <a:xfrm>
            <a:off x="830392" y="4169130"/>
            <a:ext cx="745763" cy="45826"/>
            <a:chOff x="4580561" y="2589004"/>
            <a:chExt cx="1064464" cy="25200"/>
          </a:xfrm>
        </p:grpSpPr>
        <p:sp>
          <p:nvSpPr>
            <p:cNvPr id="75" name="Google Shape;75;p66"/>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66"/>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7" name="Google Shape;77;p66"/>
          <p:cNvSpPr txBox="1"/>
          <p:nvPr>
            <p:ph hasCustomPrompt="1" type="title"/>
          </p:nvPr>
        </p:nvSpPr>
        <p:spPr>
          <a:xfrm>
            <a:off x="729450" y="733950"/>
            <a:ext cx="7688400" cy="1244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8000"/>
              <a:buNone/>
              <a:defRPr sz="8000">
                <a:solidFill>
                  <a:schemeClr val="lt1"/>
                </a:solidFill>
              </a:defRPr>
            </a:lvl1pPr>
            <a:lvl2pPr lvl="1" algn="l">
              <a:lnSpc>
                <a:spcPct val="100000"/>
              </a:lnSpc>
              <a:spcBef>
                <a:spcPts val="0"/>
              </a:spcBef>
              <a:spcAft>
                <a:spcPts val="0"/>
              </a:spcAft>
              <a:buClr>
                <a:schemeClr val="lt1"/>
              </a:buClr>
              <a:buSzPts val="8000"/>
              <a:buNone/>
              <a:defRPr sz="8000">
                <a:solidFill>
                  <a:schemeClr val="lt1"/>
                </a:solidFill>
              </a:defRPr>
            </a:lvl2pPr>
            <a:lvl3pPr lvl="2" algn="l">
              <a:lnSpc>
                <a:spcPct val="100000"/>
              </a:lnSpc>
              <a:spcBef>
                <a:spcPts val="0"/>
              </a:spcBef>
              <a:spcAft>
                <a:spcPts val="0"/>
              </a:spcAft>
              <a:buClr>
                <a:schemeClr val="lt1"/>
              </a:buClr>
              <a:buSzPts val="8000"/>
              <a:buNone/>
              <a:defRPr sz="8000">
                <a:solidFill>
                  <a:schemeClr val="lt1"/>
                </a:solidFill>
              </a:defRPr>
            </a:lvl3pPr>
            <a:lvl4pPr lvl="3" algn="l">
              <a:lnSpc>
                <a:spcPct val="100000"/>
              </a:lnSpc>
              <a:spcBef>
                <a:spcPts val="0"/>
              </a:spcBef>
              <a:spcAft>
                <a:spcPts val="0"/>
              </a:spcAft>
              <a:buClr>
                <a:schemeClr val="lt1"/>
              </a:buClr>
              <a:buSzPts val="8000"/>
              <a:buNone/>
              <a:defRPr sz="8000">
                <a:solidFill>
                  <a:schemeClr val="lt1"/>
                </a:solidFill>
              </a:defRPr>
            </a:lvl4pPr>
            <a:lvl5pPr lvl="4" algn="l">
              <a:lnSpc>
                <a:spcPct val="100000"/>
              </a:lnSpc>
              <a:spcBef>
                <a:spcPts val="0"/>
              </a:spcBef>
              <a:spcAft>
                <a:spcPts val="0"/>
              </a:spcAft>
              <a:buClr>
                <a:schemeClr val="lt1"/>
              </a:buClr>
              <a:buSzPts val="8000"/>
              <a:buNone/>
              <a:defRPr sz="8000">
                <a:solidFill>
                  <a:schemeClr val="lt1"/>
                </a:solidFill>
              </a:defRPr>
            </a:lvl5pPr>
            <a:lvl6pPr lvl="5" algn="l">
              <a:lnSpc>
                <a:spcPct val="100000"/>
              </a:lnSpc>
              <a:spcBef>
                <a:spcPts val="0"/>
              </a:spcBef>
              <a:spcAft>
                <a:spcPts val="0"/>
              </a:spcAft>
              <a:buClr>
                <a:schemeClr val="lt1"/>
              </a:buClr>
              <a:buSzPts val="8000"/>
              <a:buNone/>
              <a:defRPr sz="8000">
                <a:solidFill>
                  <a:schemeClr val="lt1"/>
                </a:solidFill>
              </a:defRPr>
            </a:lvl6pPr>
            <a:lvl7pPr lvl="6" algn="l">
              <a:lnSpc>
                <a:spcPct val="100000"/>
              </a:lnSpc>
              <a:spcBef>
                <a:spcPts val="0"/>
              </a:spcBef>
              <a:spcAft>
                <a:spcPts val="0"/>
              </a:spcAft>
              <a:buClr>
                <a:schemeClr val="lt1"/>
              </a:buClr>
              <a:buSzPts val="8000"/>
              <a:buNone/>
              <a:defRPr sz="8000">
                <a:solidFill>
                  <a:schemeClr val="lt1"/>
                </a:solidFill>
              </a:defRPr>
            </a:lvl7pPr>
            <a:lvl8pPr lvl="7" algn="l">
              <a:lnSpc>
                <a:spcPct val="100000"/>
              </a:lnSpc>
              <a:spcBef>
                <a:spcPts val="0"/>
              </a:spcBef>
              <a:spcAft>
                <a:spcPts val="0"/>
              </a:spcAft>
              <a:buClr>
                <a:schemeClr val="lt1"/>
              </a:buClr>
              <a:buSzPts val="8000"/>
              <a:buNone/>
              <a:defRPr sz="8000">
                <a:solidFill>
                  <a:schemeClr val="lt1"/>
                </a:solidFill>
              </a:defRPr>
            </a:lvl8pPr>
            <a:lvl9pPr lvl="8" algn="l">
              <a:lnSpc>
                <a:spcPct val="100000"/>
              </a:lnSpc>
              <a:spcBef>
                <a:spcPts val="0"/>
              </a:spcBef>
              <a:spcAft>
                <a:spcPts val="0"/>
              </a:spcAft>
              <a:buClr>
                <a:schemeClr val="lt1"/>
              </a:buClr>
              <a:buSzPts val="8000"/>
              <a:buNone/>
              <a:defRPr sz="8000">
                <a:solidFill>
                  <a:schemeClr val="lt1"/>
                </a:solidFill>
              </a:defRPr>
            </a:lvl9pPr>
          </a:lstStyle>
          <a:p>
            <a:r>
              <a:t>xx%</a:t>
            </a:r>
          </a:p>
        </p:txBody>
      </p:sp>
      <p:sp>
        <p:nvSpPr>
          <p:cNvPr id="78" name="Google Shape;78;p66"/>
          <p:cNvSpPr txBox="1"/>
          <p:nvPr>
            <p:ph idx="1" type="body"/>
          </p:nvPr>
        </p:nvSpPr>
        <p:spPr>
          <a:xfrm>
            <a:off x="729450" y="2272888"/>
            <a:ext cx="7688400" cy="15804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Clr>
                <a:schemeClr val="lt1"/>
              </a:buClr>
              <a:buSzPts val="1300"/>
              <a:buChar char="●"/>
              <a:defRPr>
                <a:solidFill>
                  <a:schemeClr val="lt1"/>
                </a:solidFill>
              </a:defRPr>
            </a:lvl1pPr>
            <a:lvl2pPr indent="-298450" lvl="1" marL="914400" algn="l">
              <a:lnSpc>
                <a:spcPct val="115000"/>
              </a:lnSpc>
              <a:spcBef>
                <a:spcPts val="0"/>
              </a:spcBef>
              <a:spcAft>
                <a:spcPts val="0"/>
              </a:spcAft>
              <a:buClr>
                <a:schemeClr val="lt1"/>
              </a:buClr>
              <a:buSzPts val="1100"/>
              <a:buChar char="○"/>
              <a:defRPr>
                <a:solidFill>
                  <a:schemeClr val="lt1"/>
                </a:solidFill>
              </a:defRPr>
            </a:lvl2pPr>
            <a:lvl3pPr indent="-298450" lvl="2" marL="1371600" algn="l">
              <a:lnSpc>
                <a:spcPct val="115000"/>
              </a:lnSpc>
              <a:spcBef>
                <a:spcPts val="0"/>
              </a:spcBef>
              <a:spcAft>
                <a:spcPts val="0"/>
              </a:spcAft>
              <a:buClr>
                <a:schemeClr val="lt1"/>
              </a:buClr>
              <a:buSzPts val="1100"/>
              <a:buChar char="■"/>
              <a:defRPr>
                <a:solidFill>
                  <a:schemeClr val="lt1"/>
                </a:solidFill>
              </a:defRPr>
            </a:lvl3pPr>
            <a:lvl4pPr indent="-298450" lvl="3" marL="1828800" algn="l">
              <a:lnSpc>
                <a:spcPct val="115000"/>
              </a:lnSpc>
              <a:spcBef>
                <a:spcPts val="0"/>
              </a:spcBef>
              <a:spcAft>
                <a:spcPts val="0"/>
              </a:spcAft>
              <a:buClr>
                <a:schemeClr val="lt1"/>
              </a:buClr>
              <a:buSzPts val="1100"/>
              <a:buChar char="●"/>
              <a:defRPr>
                <a:solidFill>
                  <a:schemeClr val="lt1"/>
                </a:solidFill>
              </a:defRPr>
            </a:lvl4pPr>
            <a:lvl5pPr indent="-298450" lvl="4" marL="2286000" algn="l">
              <a:lnSpc>
                <a:spcPct val="115000"/>
              </a:lnSpc>
              <a:spcBef>
                <a:spcPts val="0"/>
              </a:spcBef>
              <a:spcAft>
                <a:spcPts val="0"/>
              </a:spcAft>
              <a:buClr>
                <a:schemeClr val="lt1"/>
              </a:buClr>
              <a:buSzPts val="1100"/>
              <a:buChar char="○"/>
              <a:defRPr>
                <a:solidFill>
                  <a:schemeClr val="lt1"/>
                </a:solidFill>
              </a:defRPr>
            </a:lvl5pPr>
            <a:lvl6pPr indent="-298450" lvl="5" marL="2743200" algn="l">
              <a:lnSpc>
                <a:spcPct val="115000"/>
              </a:lnSpc>
              <a:spcBef>
                <a:spcPts val="0"/>
              </a:spcBef>
              <a:spcAft>
                <a:spcPts val="0"/>
              </a:spcAft>
              <a:buClr>
                <a:schemeClr val="lt1"/>
              </a:buClr>
              <a:buSzPts val="1100"/>
              <a:buChar char="■"/>
              <a:defRPr>
                <a:solidFill>
                  <a:schemeClr val="lt1"/>
                </a:solidFill>
              </a:defRPr>
            </a:lvl6pPr>
            <a:lvl7pPr indent="-298450" lvl="6" marL="3200400" algn="l">
              <a:lnSpc>
                <a:spcPct val="115000"/>
              </a:lnSpc>
              <a:spcBef>
                <a:spcPts val="0"/>
              </a:spcBef>
              <a:spcAft>
                <a:spcPts val="0"/>
              </a:spcAft>
              <a:buClr>
                <a:schemeClr val="lt1"/>
              </a:buClr>
              <a:buSzPts val="1100"/>
              <a:buChar char="●"/>
              <a:defRPr>
                <a:solidFill>
                  <a:schemeClr val="lt1"/>
                </a:solidFill>
              </a:defRPr>
            </a:lvl7pPr>
            <a:lvl8pPr indent="-298450" lvl="7" marL="3657600" algn="l">
              <a:lnSpc>
                <a:spcPct val="115000"/>
              </a:lnSpc>
              <a:spcBef>
                <a:spcPts val="0"/>
              </a:spcBef>
              <a:spcAft>
                <a:spcPts val="0"/>
              </a:spcAft>
              <a:buClr>
                <a:schemeClr val="lt1"/>
              </a:buClr>
              <a:buSzPts val="1100"/>
              <a:buChar char="○"/>
              <a:defRPr>
                <a:solidFill>
                  <a:schemeClr val="lt1"/>
                </a:solidFill>
              </a:defRPr>
            </a:lvl8pPr>
            <a:lvl9pPr indent="-298450" lvl="8" marL="4114800" algn="l">
              <a:lnSpc>
                <a:spcPct val="115000"/>
              </a:lnSpc>
              <a:spcBef>
                <a:spcPts val="0"/>
              </a:spcBef>
              <a:spcAft>
                <a:spcPts val="0"/>
              </a:spcAft>
              <a:buClr>
                <a:schemeClr val="lt1"/>
              </a:buClr>
              <a:buSzPts val="1100"/>
              <a:buChar char="■"/>
              <a:defRPr>
                <a:solidFill>
                  <a:schemeClr val="lt1"/>
                </a:solidFill>
              </a:defRPr>
            </a:lvl9pPr>
          </a:lstStyle>
          <a:p/>
        </p:txBody>
      </p:sp>
      <p:sp>
        <p:nvSpPr>
          <p:cNvPr id="79" name="Google Shape;79;p66"/>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67"/>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5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1pPr>
            <a:lvl2pPr lvl="1"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2pPr>
            <a:lvl3pPr lvl="2"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3pPr>
            <a:lvl4pPr lvl="3"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4pPr>
            <a:lvl5pPr lvl="4"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5pPr>
            <a:lvl6pPr lvl="5"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6pPr>
            <a:lvl7pPr lvl="6"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7pPr>
            <a:lvl8pPr lvl="7"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8pPr>
            <a:lvl9pPr lvl="8"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9pPr>
          </a:lstStyle>
          <a:p/>
        </p:txBody>
      </p:sp>
      <p:sp>
        <p:nvSpPr>
          <p:cNvPr id="7" name="Google Shape;7;p5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marR="0" rtl="0" algn="l">
              <a:lnSpc>
                <a:spcPct val="115000"/>
              </a:lnSpc>
              <a:spcBef>
                <a:spcPts val="0"/>
              </a:spcBef>
              <a:spcAft>
                <a:spcPts val="0"/>
              </a:spcAft>
              <a:buClr>
                <a:schemeClr val="accent1"/>
              </a:buClr>
              <a:buSzPts val="1300"/>
              <a:buFont typeface="Lato"/>
              <a:buChar char="●"/>
              <a:defRPr b="0" i="0" sz="1300" u="none" cap="none" strike="noStrike">
                <a:solidFill>
                  <a:schemeClr val="accent1"/>
                </a:solidFill>
                <a:latin typeface="Lato"/>
                <a:ea typeface="Lato"/>
                <a:cs typeface="Lato"/>
                <a:sym typeface="Lato"/>
              </a:defRPr>
            </a:lvl1pPr>
            <a:lvl2pPr indent="-298450" lvl="1" marL="9144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2pPr>
            <a:lvl3pPr indent="-298450" lvl="2" marL="13716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3pPr>
            <a:lvl4pPr indent="-298450" lvl="3" marL="18288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4pPr>
            <a:lvl5pPr indent="-298450" lvl="4" marL="22860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5pPr>
            <a:lvl6pPr indent="-298450" lvl="5" marL="27432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6pPr>
            <a:lvl7pPr indent="-298450" lvl="6" marL="32004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7pPr>
            <a:lvl8pPr indent="-298450" lvl="7" marL="36576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8pPr>
            <a:lvl9pPr indent="-298450" lvl="8" marL="41148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9pPr>
          </a:lstStyle>
          <a:p/>
        </p:txBody>
      </p:sp>
      <p:sp>
        <p:nvSpPr>
          <p:cNvPr id="8" name="Google Shape;8;p56"/>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4.pn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
          <p:cNvSpPr txBox="1"/>
          <p:nvPr>
            <p:ph type="ctrTitle"/>
          </p:nvPr>
        </p:nvSpPr>
        <p:spPr>
          <a:xfrm>
            <a:off x="729450" y="1322450"/>
            <a:ext cx="7688100" cy="1664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4200"/>
              <a:buNone/>
            </a:pPr>
            <a:r>
              <a:rPr lang="es-419"/>
              <a:t>Regresión Lineal</a:t>
            </a:r>
            <a:endParaRPr/>
          </a:p>
        </p:txBody>
      </p:sp>
      <p:sp>
        <p:nvSpPr>
          <p:cNvPr id="87" name="Google Shape;87;p1"/>
          <p:cNvSpPr txBox="1"/>
          <p:nvPr>
            <p:ph idx="1" type="subTitle"/>
          </p:nvPr>
        </p:nvSpPr>
        <p:spPr>
          <a:xfrm>
            <a:off x="729627" y="3172900"/>
            <a:ext cx="7688100" cy="5412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600"/>
              <a:buNone/>
            </a:pPr>
            <a:r>
              <a:rPr lang="es-419"/>
              <a:t>Aprendizaje Automático 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2"/>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Regresión Lineal</a:t>
            </a:r>
            <a:endParaRPr/>
          </a:p>
        </p:txBody>
      </p:sp>
      <p:sp>
        <p:nvSpPr>
          <p:cNvPr id="93" name="Google Shape;93;p2"/>
          <p:cNvSpPr txBox="1"/>
          <p:nvPr>
            <p:ph idx="1" type="body"/>
          </p:nvPr>
        </p:nvSpPr>
        <p:spPr>
          <a:xfrm>
            <a:off x="5555875" y="2108850"/>
            <a:ext cx="2772300" cy="2261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rPr b="1" lang="es-419"/>
              <a:t>Recta de regresión</a:t>
            </a:r>
            <a:endParaRPr b="1"/>
          </a:p>
          <a:p>
            <a:pPr indent="0" lvl="0" marL="0" rtl="0" algn="l">
              <a:lnSpc>
                <a:spcPct val="115000"/>
              </a:lnSpc>
              <a:spcBef>
                <a:spcPts val="1200"/>
              </a:spcBef>
              <a:spcAft>
                <a:spcPts val="0"/>
              </a:spcAft>
              <a:buSzPts val="1300"/>
              <a:buNone/>
            </a:pPr>
            <a:r>
              <a:rPr lang="es-419"/>
              <a:t>y = a x + b</a:t>
            </a:r>
            <a:endParaRPr/>
          </a:p>
          <a:p>
            <a:pPr indent="0" lvl="0" marL="0" rtl="0" algn="l">
              <a:lnSpc>
                <a:spcPct val="115000"/>
              </a:lnSpc>
              <a:spcBef>
                <a:spcPts val="1200"/>
              </a:spcBef>
              <a:spcAft>
                <a:spcPts val="1200"/>
              </a:spcAft>
              <a:buSzPts val="1300"/>
              <a:buNone/>
            </a:pPr>
            <a:r>
              <a:rPr lang="es-419"/>
              <a:t>Se desconocen a y b.</a:t>
            </a:r>
            <a:endParaRPr/>
          </a:p>
        </p:txBody>
      </p:sp>
      <p:pic>
        <p:nvPicPr>
          <p:cNvPr id="94" name="Google Shape;94;p2"/>
          <p:cNvPicPr preferRelativeResize="0"/>
          <p:nvPr/>
        </p:nvPicPr>
        <p:blipFill rotWithShape="1">
          <a:blip r:embed="rId3">
            <a:alphaModFix/>
          </a:blip>
          <a:srcRect b="0" l="0" r="0" t="0"/>
          <a:stretch/>
        </p:blipFill>
        <p:spPr>
          <a:xfrm>
            <a:off x="219925" y="1853850"/>
            <a:ext cx="4789924" cy="29597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3"/>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Regresión Lineal Múltiple</a:t>
            </a:r>
            <a:endParaRPr/>
          </a:p>
        </p:txBody>
      </p:sp>
      <p:sp>
        <p:nvSpPr>
          <p:cNvPr id="100" name="Google Shape;100;p3"/>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rPr b="1" lang="es-419"/>
              <a:t>Plano de regresión</a:t>
            </a:r>
            <a:endParaRPr b="1"/>
          </a:p>
          <a:p>
            <a:pPr indent="0" lvl="0" marL="0" rtl="0" algn="l">
              <a:lnSpc>
                <a:spcPct val="115000"/>
              </a:lnSpc>
              <a:spcBef>
                <a:spcPts val="1200"/>
              </a:spcBef>
              <a:spcAft>
                <a:spcPts val="0"/>
              </a:spcAft>
              <a:buSzPts val="1300"/>
              <a:buNone/>
            </a:pPr>
            <a:r>
              <a:rPr lang="es-419"/>
              <a:t>Y = a X</a:t>
            </a:r>
            <a:r>
              <a:rPr baseline="-25000" lang="es-419"/>
              <a:t>1</a:t>
            </a:r>
            <a:r>
              <a:rPr lang="es-419"/>
              <a:t> + b X</a:t>
            </a:r>
            <a:r>
              <a:rPr baseline="-25000" lang="es-419"/>
              <a:t>2 </a:t>
            </a:r>
            <a:r>
              <a:rPr lang="es-419"/>
              <a:t>+ c</a:t>
            </a:r>
            <a:endParaRPr/>
          </a:p>
          <a:p>
            <a:pPr indent="0" lvl="0" marL="0" rtl="0" algn="l">
              <a:lnSpc>
                <a:spcPct val="115000"/>
              </a:lnSpc>
              <a:spcBef>
                <a:spcPts val="1200"/>
              </a:spcBef>
              <a:spcAft>
                <a:spcPts val="0"/>
              </a:spcAft>
              <a:buSzPts val="1300"/>
              <a:buNone/>
            </a:pPr>
            <a:r>
              <a:rPr lang="es-419"/>
              <a:t>Se desconocen a, b y c.</a:t>
            </a:r>
            <a:endParaRPr/>
          </a:p>
          <a:p>
            <a:pPr indent="0" lvl="0" marL="0" rtl="0" algn="l">
              <a:lnSpc>
                <a:spcPct val="115000"/>
              </a:lnSpc>
              <a:spcBef>
                <a:spcPts val="1200"/>
              </a:spcBef>
              <a:spcAft>
                <a:spcPts val="1200"/>
              </a:spcAft>
              <a:buSzPts val="1300"/>
              <a:buNone/>
            </a:pPr>
            <a:r>
              <a:t/>
            </a:r>
            <a:endParaRPr/>
          </a:p>
        </p:txBody>
      </p:sp>
      <p:pic>
        <p:nvPicPr>
          <p:cNvPr id="101" name="Google Shape;101;p3"/>
          <p:cNvPicPr preferRelativeResize="0"/>
          <p:nvPr/>
        </p:nvPicPr>
        <p:blipFill rotWithShape="1">
          <a:blip r:embed="rId3">
            <a:alphaModFix/>
          </a:blip>
          <a:srcRect b="0" l="0" r="0" t="0"/>
          <a:stretch/>
        </p:blipFill>
        <p:spPr>
          <a:xfrm>
            <a:off x="4825263" y="1133463"/>
            <a:ext cx="4067175" cy="40100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4"/>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Regresión Lineal Múltiple</a:t>
            </a:r>
            <a:endParaRPr/>
          </a:p>
          <a:p>
            <a:pPr indent="0" lvl="0" marL="0" rtl="0" algn="l">
              <a:lnSpc>
                <a:spcPct val="100000"/>
              </a:lnSpc>
              <a:spcBef>
                <a:spcPts val="0"/>
              </a:spcBef>
              <a:spcAft>
                <a:spcPts val="0"/>
              </a:spcAft>
              <a:buSzPct val="111111"/>
              <a:buNone/>
            </a:pPr>
            <a:r>
              <a:t/>
            </a:r>
            <a:endParaRPr/>
          </a:p>
        </p:txBody>
      </p:sp>
      <p:sp>
        <p:nvSpPr>
          <p:cNvPr id="107" name="Google Shape;107;p4"/>
          <p:cNvSpPr txBox="1"/>
          <p:nvPr>
            <p:ph idx="1" type="body"/>
          </p:nvPr>
        </p:nvSpPr>
        <p:spPr>
          <a:xfrm>
            <a:off x="766950" y="1971925"/>
            <a:ext cx="7688700" cy="24582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rPr b="1" lang="es-419"/>
              <a:t>Figura n-dimensional de regresión</a:t>
            </a:r>
            <a:endParaRPr b="1"/>
          </a:p>
          <a:p>
            <a:pPr indent="0" lvl="0" marL="0" rtl="0" algn="l">
              <a:lnSpc>
                <a:spcPct val="115000"/>
              </a:lnSpc>
              <a:spcBef>
                <a:spcPts val="1200"/>
              </a:spcBef>
              <a:spcAft>
                <a:spcPts val="0"/>
              </a:spcAft>
              <a:buSzPts val="1300"/>
              <a:buNone/>
            </a:pPr>
            <a:r>
              <a:t/>
            </a:r>
            <a:endParaRPr b="1"/>
          </a:p>
          <a:p>
            <a:pPr indent="0" lvl="0" marL="0" rtl="0" algn="l">
              <a:lnSpc>
                <a:spcPct val="115000"/>
              </a:lnSpc>
              <a:spcBef>
                <a:spcPts val="1200"/>
              </a:spcBef>
              <a:spcAft>
                <a:spcPts val="0"/>
              </a:spcAft>
              <a:buSzPts val="1300"/>
              <a:buNone/>
            </a:pPr>
            <a:r>
              <a:rPr b="1" lang="es-419"/>
              <a:t>p ejes.</a:t>
            </a:r>
            <a:endParaRPr b="1"/>
          </a:p>
          <a:p>
            <a:pPr indent="0" lvl="0" marL="0" rtl="0" algn="l">
              <a:lnSpc>
                <a:spcPct val="115000"/>
              </a:lnSpc>
              <a:spcBef>
                <a:spcPts val="1200"/>
              </a:spcBef>
              <a:spcAft>
                <a:spcPts val="1200"/>
              </a:spcAft>
              <a:buSzPts val="1300"/>
              <a:buNone/>
            </a:pPr>
            <a:r>
              <a:rPr b="1" lang="es-419"/>
              <a:t>Se desconocen p+1 parámetros.</a:t>
            </a:r>
            <a:endParaRPr b="1"/>
          </a:p>
        </p:txBody>
      </p:sp>
      <p:pic>
        <p:nvPicPr>
          <p:cNvPr id="108" name="Google Shape;108;p4"/>
          <p:cNvPicPr preferRelativeResize="0"/>
          <p:nvPr/>
        </p:nvPicPr>
        <p:blipFill rotWithShape="1">
          <a:blip r:embed="rId3">
            <a:alphaModFix/>
          </a:blip>
          <a:srcRect b="0" l="0" r="0" t="0"/>
          <a:stretch/>
        </p:blipFill>
        <p:spPr>
          <a:xfrm>
            <a:off x="1916325" y="2371725"/>
            <a:ext cx="5314950" cy="4000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5"/>
          <p:cNvSpPr txBox="1"/>
          <p:nvPr>
            <p:ph type="title"/>
          </p:nvPr>
        </p:nvSpPr>
        <p:spPr>
          <a:xfrm>
            <a:off x="730000" y="1318650"/>
            <a:ext cx="3300900" cy="16872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600"/>
              <a:buNone/>
            </a:pPr>
            <a:r>
              <a:rPr lang="es-419"/>
              <a:t>Ley de Hooke</a:t>
            </a:r>
            <a:endParaRPr/>
          </a:p>
        </p:txBody>
      </p:sp>
      <p:sp>
        <p:nvSpPr>
          <p:cNvPr id="114" name="Google Shape;114;p5"/>
          <p:cNvSpPr txBox="1"/>
          <p:nvPr>
            <p:ph idx="2" type="body"/>
          </p:nvPr>
        </p:nvSpPr>
        <p:spPr>
          <a:xfrm>
            <a:off x="5174225" y="1352625"/>
            <a:ext cx="3374400" cy="30255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300"/>
              <a:buNone/>
            </a:pPr>
            <a:r>
              <a:t/>
            </a:r>
            <a:endParaRPr/>
          </a:p>
        </p:txBody>
      </p:sp>
      <p:pic>
        <p:nvPicPr>
          <p:cNvPr id="115" name="Google Shape;115;p5"/>
          <p:cNvPicPr preferRelativeResize="0"/>
          <p:nvPr/>
        </p:nvPicPr>
        <p:blipFill rotWithShape="1">
          <a:blip r:embed="rId3">
            <a:alphaModFix/>
          </a:blip>
          <a:srcRect b="0" l="0" r="0" t="0"/>
          <a:stretch/>
        </p:blipFill>
        <p:spPr>
          <a:xfrm>
            <a:off x="4712600" y="495337"/>
            <a:ext cx="3992376" cy="4152826"/>
          </a:xfrm>
          <a:prstGeom prst="rect">
            <a:avLst/>
          </a:prstGeom>
          <a:noFill/>
          <a:ln>
            <a:noFill/>
          </a:ln>
        </p:spPr>
      </p:pic>
      <p:sp>
        <p:nvSpPr>
          <p:cNvPr id="116" name="Google Shape;116;p5"/>
          <p:cNvSpPr txBox="1"/>
          <p:nvPr>
            <p:ph idx="1" type="subTitle"/>
          </p:nvPr>
        </p:nvSpPr>
        <p:spPr>
          <a:xfrm>
            <a:off x="724950" y="3161525"/>
            <a:ext cx="3300900" cy="7590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600"/>
              <a:buNone/>
            </a:pPr>
            <a:r>
              <a:rPr lang="es-419"/>
              <a:t>f = -k x</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6"/>
          <p:cNvSpPr txBox="1"/>
          <p:nvPr>
            <p:ph type="title"/>
          </p:nvPr>
        </p:nvSpPr>
        <p:spPr>
          <a:xfrm>
            <a:off x="730000" y="1318650"/>
            <a:ext cx="3300900" cy="16872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600"/>
              <a:buNone/>
            </a:pPr>
            <a:r>
              <a:rPr lang="es-419"/>
              <a:t>Movimiento Rectilíneo Uniforme Variado</a:t>
            </a:r>
            <a:endParaRPr/>
          </a:p>
        </p:txBody>
      </p:sp>
      <p:sp>
        <p:nvSpPr>
          <p:cNvPr id="122" name="Google Shape;122;p6"/>
          <p:cNvSpPr txBox="1"/>
          <p:nvPr>
            <p:ph idx="1" type="subTitle"/>
          </p:nvPr>
        </p:nvSpPr>
        <p:spPr>
          <a:xfrm>
            <a:off x="724950" y="3161525"/>
            <a:ext cx="3300900" cy="759000"/>
          </a:xfrm>
          <a:prstGeom prst="rect">
            <a:avLst/>
          </a:prstGeom>
          <a:noFill/>
          <a:ln>
            <a:noFill/>
          </a:ln>
        </p:spPr>
        <p:txBody>
          <a:bodyPr anchorCtr="0" anchor="t" bIns="91425" lIns="91425" spcFirstLastPara="1" rIns="91425" wrap="square" tIns="91425">
            <a:normAutofit fontScale="92500" lnSpcReduction="20000"/>
          </a:bodyPr>
          <a:lstStyle/>
          <a:p>
            <a:pPr indent="0" lvl="0" marL="0" rtl="0" algn="l">
              <a:lnSpc>
                <a:spcPct val="100000"/>
              </a:lnSpc>
              <a:spcBef>
                <a:spcPts val="0"/>
              </a:spcBef>
              <a:spcAft>
                <a:spcPts val="0"/>
              </a:spcAft>
              <a:buSzPct val="108108"/>
              <a:buNone/>
            </a:pPr>
            <a:r>
              <a:rPr lang="es-419"/>
              <a:t>v(t) = v(t0) + a * t</a:t>
            </a:r>
            <a:endParaRPr/>
          </a:p>
          <a:p>
            <a:pPr indent="0" lvl="0" marL="0" rtl="0" algn="l">
              <a:lnSpc>
                <a:spcPct val="100000"/>
              </a:lnSpc>
              <a:spcBef>
                <a:spcPts val="0"/>
              </a:spcBef>
              <a:spcAft>
                <a:spcPts val="0"/>
              </a:spcAft>
              <a:buSzPct val="108108"/>
              <a:buNone/>
            </a:pPr>
            <a:r>
              <a:t/>
            </a:r>
            <a:endParaRPr/>
          </a:p>
          <a:p>
            <a:pPr indent="0" lvl="0" marL="0" rtl="0" algn="l">
              <a:lnSpc>
                <a:spcPct val="100000"/>
              </a:lnSpc>
              <a:spcBef>
                <a:spcPts val="0"/>
              </a:spcBef>
              <a:spcAft>
                <a:spcPts val="0"/>
              </a:spcAft>
              <a:buSzPct val="108108"/>
              <a:buNone/>
            </a:pPr>
            <a:r>
              <a:rPr lang="es-419"/>
              <a:t>x(t) = x(t0) + v(t0)*t + 0.5 a t</a:t>
            </a:r>
            <a:r>
              <a:rPr baseline="30000" lang="es-419"/>
              <a:t>2</a:t>
            </a:r>
            <a:endParaRPr baseline="30000"/>
          </a:p>
        </p:txBody>
      </p:sp>
      <p:pic>
        <p:nvPicPr>
          <p:cNvPr id="123" name="Google Shape;123;p6"/>
          <p:cNvPicPr preferRelativeResize="0"/>
          <p:nvPr/>
        </p:nvPicPr>
        <p:blipFill rotWithShape="1">
          <a:blip r:embed="rId3">
            <a:alphaModFix/>
          </a:blip>
          <a:srcRect b="0" l="0" r="0" t="0"/>
          <a:stretch/>
        </p:blipFill>
        <p:spPr>
          <a:xfrm>
            <a:off x="5465671" y="0"/>
            <a:ext cx="3011259" cy="5143501"/>
          </a:xfrm>
          <a:prstGeom prst="rect">
            <a:avLst/>
          </a:prstGeom>
          <a:noFill/>
          <a:ln>
            <a:noFill/>
          </a:ln>
        </p:spPr>
      </p:pic>
      <p:sp>
        <p:nvSpPr>
          <p:cNvPr id="124" name="Google Shape;124;p6"/>
          <p:cNvSpPr txBox="1"/>
          <p:nvPr/>
        </p:nvSpPr>
        <p:spPr>
          <a:xfrm>
            <a:off x="4311250" y="2219350"/>
            <a:ext cx="1769400" cy="37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7"/>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Regresión Lineal</a:t>
            </a:r>
            <a:endParaRPr/>
          </a:p>
        </p:txBody>
      </p:sp>
      <p:sp>
        <p:nvSpPr>
          <p:cNvPr id="130" name="Google Shape;130;p7"/>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rPr lang="es-419"/>
              <a:t>La idea es encontrar una </a:t>
            </a:r>
            <a:r>
              <a:rPr b="1" lang="es-419"/>
              <a:t>función de pérdida</a:t>
            </a:r>
            <a:r>
              <a:rPr lang="es-419"/>
              <a:t> para determinar qué es lo que queremos minimizar. O en otras palabras, cómo </a:t>
            </a:r>
            <a:r>
              <a:rPr b="1" lang="es-419"/>
              <a:t>medir</a:t>
            </a:r>
            <a:r>
              <a:rPr lang="es-419"/>
              <a:t> la </a:t>
            </a:r>
            <a:r>
              <a:rPr b="1" lang="es-419"/>
              <a:t>mejor</a:t>
            </a:r>
            <a:r>
              <a:rPr lang="es-419"/>
              <a:t> figura n-dimensional que se adapte a nuestros datos.</a:t>
            </a:r>
            <a:endParaRPr/>
          </a:p>
          <a:p>
            <a:pPr indent="0" lvl="0" marL="0" rtl="0" algn="l">
              <a:lnSpc>
                <a:spcPct val="115000"/>
              </a:lnSpc>
              <a:spcBef>
                <a:spcPts val="1200"/>
              </a:spcBef>
              <a:spcAft>
                <a:spcPts val="0"/>
              </a:spcAft>
              <a:buSzPts val="1300"/>
              <a:buNone/>
            </a:pPr>
            <a:r>
              <a:rPr lang="es-419"/>
              <a:t>Por lo general:</a:t>
            </a:r>
            <a:endParaRPr/>
          </a:p>
          <a:p>
            <a:pPr indent="0" lvl="0" marL="0" rtl="0" algn="l">
              <a:lnSpc>
                <a:spcPct val="115000"/>
              </a:lnSpc>
              <a:spcBef>
                <a:spcPts val="1200"/>
              </a:spcBef>
              <a:spcAft>
                <a:spcPts val="0"/>
              </a:spcAft>
              <a:buSzPts val="1300"/>
              <a:buNone/>
            </a:pPr>
            <a:r>
              <a:rPr b="1" lang="es-419"/>
              <a:t>OLS - Ordinary Least Squares</a:t>
            </a:r>
            <a:r>
              <a:rPr lang="es-419"/>
              <a:t> - Mínimos cuadrados</a:t>
            </a:r>
            <a:endParaRPr/>
          </a:p>
          <a:p>
            <a:pPr indent="0" lvl="0" marL="0" rtl="0" algn="l">
              <a:lnSpc>
                <a:spcPct val="115000"/>
              </a:lnSpc>
              <a:spcBef>
                <a:spcPts val="1200"/>
              </a:spcBef>
              <a:spcAft>
                <a:spcPts val="0"/>
              </a:spcAft>
              <a:buSzPts val="1300"/>
              <a:buNone/>
            </a:pPr>
            <a:r>
              <a:rPr lang="es-419"/>
              <a:t>Este método consiste en </a:t>
            </a:r>
            <a:r>
              <a:rPr b="1" lang="es-419"/>
              <a:t>minimizar la suma de los cuadrados de las diferencias entre y_true y y_pred</a:t>
            </a:r>
            <a:endParaRPr b="1"/>
          </a:p>
          <a:p>
            <a:pPr indent="0" lvl="0" marL="0" rtl="0" algn="l">
              <a:lnSpc>
                <a:spcPct val="115000"/>
              </a:lnSpc>
              <a:spcBef>
                <a:spcPts val="1200"/>
              </a:spcBef>
              <a:spcAft>
                <a:spcPts val="1200"/>
              </a:spcAft>
              <a:buSzPts val="1300"/>
              <a:buNone/>
            </a:pPr>
            <a:r>
              <a:rPr lang="es-419"/>
              <a:t>Siendo y_true el valor real de Y, e y_pred el valor dado por la figura de regresión.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8"/>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Mínimos cuadrados</a:t>
            </a:r>
            <a:endParaRPr/>
          </a:p>
        </p:txBody>
      </p:sp>
      <p:sp>
        <p:nvSpPr>
          <p:cNvPr id="136" name="Google Shape;136;p8"/>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300"/>
              <a:buNone/>
            </a:pPr>
            <a:r>
              <a:rPr lang="es-419" sz="1000"/>
              <a:t>La distancia entre </a:t>
            </a:r>
            <a:r>
              <a:rPr lang="es-419">
                <a:latin typeface="Lora SemiBold"/>
                <a:ea typeface="Lora SemiBold"/>
                <a:cs typeface="Lora SemiBold"/>
                <a:sym typeface="Lora SemiBold"/>
              </a:rPr>
              <a:t>y</a:t>
            </a:r>
            <a:r>
              <a:rPr baseline="-25000" lang="es-419">
                <a:latin typeface="Lora SemiBold"/>
                <a:ea typeface="Lora SemiBold"/>
                <a:cs typeface="Lora SemiBold"/>
                <a:sym typeface="Lora SemiBold"/>
              </a:rPr>
              <a:t>true_i</a:t>
            </a:r>
            <a:r>
              <a:rPr lang="es-419" sz="1000"/>
              <a:t> e </a:t>
            </a:r>
            <a:r>
              <a:rPr lang="es-419">
                <a:latin typeface="Lora SemiBold"/>
                <a:ea typeface="Lora SemiBold"/>
                <a:cs typeface="Lora SemiBold"/>
                <a:sym typeface="Lora SemiBold"/>
              </a:rPr>
              <a:t>y</a:t>
            </a:r>
            <a:r>
              <a:rPr baseline="-25000" lang="es-419">
                <a:latin typeface="Lora SemiBold"/>
                <a:ea typeface="Lora SemiBold"/>
                <a:cs typeface="Lora SemiBold"/>
                <a:sym typeface="Lora SemiBold"/>
              </a:rPr>
              <a:t>pred_i</a:t>
            </a:r>
            <a:r>
              <a:rPr lang="es-419" sz="1000"/>
              <a:t> se puede medir como la resta entre ellos</a:t>
            </a:r>
            <a:endParaRPr sz="1000"/>
          </a:p>
          <a:p>
            <a:pPr indent="0" lvl="0" marL="0" rtl="0" algn="ctr">
              <a:lnSpc>
                <a:spcPct val="115000"/>
              </a:lnSpc>
              <a:spcBef>
                <a:spcPts val="1200"/>
              </a:spcBef>
              <a:spcAft>
                <a:spcPts val="0"/>
              </a:spcAft>
              <a:buSzPts val="1300"/>
              <a:buNone/>
            </a:pPr>
            <a:r>
              <a:rPr lang="es-419" sz="1600">
                <a:latin typeface="Lora SemiBold"/>
                <a:ea typeface="Lora SemiBold"/>
                <a:cs typeface="Lora SemiBold"/>
                <a:sym typeface="Lora SemiBold"/>
              </a:rPr>
              <a:t>d =  y</a:t>
            </a:r>
            <a:r>
              <a:rPr baseline="-25000" lang="es-419" sz="1600">
                <a:latin typeface="Lora SemiBold"/>
                <a:ea typeface="Lora SemiBold"/>
                <a:cs typeface="Lora SemiBold"/>
                <a:sym typeface="Lora SemiBold"/>
              </a:rPr>
              <a:t>true_i</a:t>
            </a:r>
            <a:r>
              <a:rPr lang="es-419" sz="1600">
                <a:latin typeface="Lora SemiBold"/>
                <a:ea typeface="Lora SemiBold"/>
                <a:cs typeface="Lora SemiBold"/>
                <a:sym typeface="Lora SemiBold"/>
              </a:rPr>
              <a:t> - y</a:t>
            </a:r>
            <a:r>
              <a:rPr baseline="-25000" lang="es-419" sz="1600">
                <a:latin typeface="Lora SemiBold"/>
                <a:ea typeface="Lora SemiBold"/>
                <a:cs typeface="Lora SemiBold"/>
                <a:sym typeface="Lora SemiBold"/>
              </a:rPr>
              <a:t>pred_i</a:t>
            </a:r>
            <a:endParaRPr baseline="-25000" sz="1600">
              <a:latin typeface="Lora SemiBold"/>
              <a:ea typeface="Lora SemiBold"/>
              <a:cs typeface="Lora SemiBold"/>
              <a:sym typeface="Lora SemiBold"/>
            </a:endParaRPr>
          </a:p>
          <a:p>
            <a:pPr indent="0" lvl="0" marL="0" rtl="0" algn="l">
              <a:lnSpc>
                <a:spcPct val="115000"/>
              </a:lnSpc>
              <a:spcBef>
                <a:spcPts val="1200"/>
              </a:spcBef>
              <a:spcAft>
                <a:spcPts val="0"/>
              </a:spcAft>
              <a:buSzPts val="1300"/>
              <a:buNone/>
            </a:pPr>
            <a:r>
              <a:rPr baseline="-25000" lang="es-419" sz="1600"/>
              <a:t>Puesto que esta distancia puede ser positiva o negativa, para hacer una ponderación de distancia deberíamos tomar su valor positivo, lo que se puede hacer tomando el valor absoluto pero lo más común es elevar esta distancia al cuadrado.</a:t>
            </a:r>
            <a:endParaRPr baseline="-25000" sz="1600"/>
          </a:p>
          <a:p>
            <a:pPr indent="0" lvl="0" marL="0" rtl="0" algn="ctr">
              <a:lnSpc>
                <a:spcPct val="115000"/>
              </a:lnSpc>
              <a:spcBef>
                <a:spcPts val="1200"/>
              </a:spcBef>
              <a:spcAft>
                <a:spcPts val="0"/>
              </a:spcAft>
              <a:buSzPts val="1300"/>
              <a:buNone/>
            </a:pPr>
            <a:r>
              <a:rPr lang="es-419" sz="1600">
                <a:latin typeface="Lora SemiBold"/>
                <a:ea typeface="Lora SemiBold"/>
                <a:cs typeface="Lora SemiBold"/>
                <a:sym typeface="Lora SemiBold"/>
              </a:rPr>
              <a:t>d</a:t>
            </a:r>
            <a:r>
              <a:rPr baseline="30000" lang="es-419" sz="1600">
                <a:latin typeface="Lora SemiBold"/>
                <a:ea typeface="Lora SemiBold"/>
                <a:cs typeface="Lora SemiBold"/>
                <a:sym typeface="Lora SemiBold"/>
              </a:rPr>
              <a:t>2</a:t>
            </a:r>
            <a:r>
              <a:rPr lang="es-419" sz="1600">
                <a:latin typeface="Lora SemiBold"/>
                <a:ea typeface="Lora SemiBold"/>
                <a:cs typeface="Lora SemiBold"/>
                <a:sym typeface="Lora SemiBold"/>
              </a:rPr>
              <a:t> =  (y</a:t>
            </a:r>
            <a:r>
              <a:rPr baseline="-25000" lang="es-419" sz="1600">
                <a:latin typeface="Lora SemiBold"/>
                <a:ea typeface="Lora SemiBold"/>
                <a:cs typeface="Lora SemiBold"/>
                <a:sym typeface="Lora SemiBold"/>
              </a:rPr>
              <a:t>true_i</a:t>
            </a:r>
            <a:r>
              <a:rPr lang="es-419" sz="1600">
                <a:latin typeface="Lora SemiBold"/>
                <a:ea typeface="Lora SemiBold"/>
                <a:cs typeface="Lora SemiBold"/>
                <a:sym typeface="Lora SemiBold"/>
              </a:rPr>
              <a:t> - y</a:t>
            </a:r>
            <a:r>
              <a:rPr baseline="-25000" lang="es-419" sz="1600">
                <a:latin typeface="Lora SemiBold"/>
                <a:ea typeface="Lora SemiBold"/>
                <a:cs typeface="Lora SemiBold"/>
                <a:sym typeface="Lora SemiBold"/>
              </a:rPr>
              <a:t>pred_i</a:t>
            </a:r>
            <a:r>
              <a:rPr b="1" lang="es-419" sz="1600">
                <a:latin typeface="Lora"/>
                <a:ea typeface="Lora"/>
                <a:cs typeface="Lora"/>
                <a:sym typeface="Lora"/>
              </a:rPr>
              <a:t>)</a:t>
            </a:r>
            <a:r>
              <a:rPr baseline="30000" lang="es-419" sz="1600">
                <a:latin typeface="Lora SemiBold"/>
                <a:ea typeface="Lora SemiBold"/>
                <a:cs typeface="Lora SemiBold"/>
                <a:sym typeface="Lora SemiBold"/>
              </a:rPr>
              <a:t>2</a:t>
            </a:r>
            <a:endParaRPr b="1" sz="1600">
              <a:latin typeface="Lora"/>
              <a:ea typeface="Lora"/>
              <a:cs typeface="Lora"/>
              <a:sym typeface="Lora"/>
            </a:endParaRPr>
          </a:p>
          <a:p>
            <a:pPr indent="0" lvl="0" marL="0" rtl="0" algn="l">
              <a:lnSpc>
                <a:spcPct val="115000"/>
              </a:lnSpc>
              <a:spcBef>
                <a:spcPts val="1200"/>
              </a:spcBef>
              <a:spcAft>
                <a:spcPts val="1200"/>
              </a:spcAft>
              <a:buSzPts val="1300"/>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9"/>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0" lvl="0" marL="0" rtl="0" algn="ctr">
              <a:lnSpc>
                <a:spcPct val="115000"/>
              </a:lnSpc>
              <a:spcBef>
                <a:spcPts val="0"/>
              </a:spcBef>
              <a:spcAft>
                <a:spcPts val="0"/>
              </a:spcAft>
              <a:buSzPts val="1300"/>
              <a:buNone/>
            </a:pPr>
            <a:r>
              <a:rPr lang="es-419"/>
              <a:t>loss = </a:t>
            </a:r>
            <a:r>
              <a:rPr lang="es-419">
                <a:latin typeface="Lora SemiBold"/>
                <a:ea typeface="Lora SemiBold"/>
                <a:cs typeface="Lora SemiBold"/>
                <a:sym typeface="Lora SemiBold"/>
              </a:rPr>
              <a:t>⅀</a:t>
            </a:r>
            <a:r>
              <a:rPr lang="es-419" sz="1600">
                <a:latin typeface="Lora SemiBold"/>
                <a:ea typeface="Lora SemiBold"/>
                <a:cs typeface="Lora SemiBold"/>
                <a:sym typeface="Lora SemiBold"/>
              </a:rPr>
              <a:t> (y</a:t>
            </a:r>
            <a:r>
              <a:rPr baseline="-25000" lang="es-419" sz="1600">
                <a:latin typeface="Lora SemiBold"/>
                <a:ea typeface="Lora SemiBold"/>
                <a:cs typeface="Lora SemiBold"/>
                <a:sym typeface="Lora SemiBold"/>
              </a:rPr>
              <a:t>true_i</a:t>
            </a:r>
            <a:r>
              <a:rPr lang="es-419" sz="1600">
                <a:latin typeface="Lora SemiBold"/>
                <a:ea typeface="Lora SemiBold"/>
                <a:cs typeface="Lora SemiBold"/>
                <a:sym typeface="Lora SemiBold"/>
              </a:rPr>
              <a:t> - y</a:t>
            </a:r>
            <a:r>
              <a:rPr baseline="-25000" lang="es-419" sz="1600">
                <a:latin typeface="Lora SemiBold"/>
                <a:ea typeface="Lora SemiBold"/>
                <a:cs typeface="Lora SemiBold"/>
                <a:sym typeface="Lora SemiBold"/>
              </a:rPr>
              <a:t>pred_i</a:t>
            </a:r>
            <a:r>
              <a:rPr b="1" lang="es-419" sz="1600">
                <a:latin typeface="Lora"/>
                <a:ea typeface="Lora"/>
                <a:cs typeface="Lora"/>
                <a:sym typeface="Lora"/>
              </a:rPr>
              <a:t>)</a:t>
            </a:r>
            <a:r>
              <a:rPr baseline="30000" lang="es-419" sz="1600">
                <a:latin typeface="Lora SemiBold"/>
                <a:ea typeface="Lora SemiBold"/>
                <a:cs typeface="Lora SemiBold"/>
                <a:sym typeface="Lora SemiBold"/>
              </a:rPr>
              <a:t>2</a:t>
            </a:r>
            <a:endParaRPr baseline="30000" sz="1600">
              <a:latin typeface="Lora SemiBold"/>
              <a:ea typeface="Lora SemiBold"/>
              <a:cs typeface="Lora SemiBold"/>
              <a:sym typeface="Lora SemiBold"/>
            </a:endParaRPr>
          </a:p>
          <a:p>
            <a:pPr indent="0" lvl="0" marL="0" rtl="0" algn="l">
              <a:lnSpc>
                <a:spcPct val="115000"/>
              </a:lnSpc>
              <a:spcBef>
                <a:spcPts val="1200"/>
              </a:spcBef>
              <a:spcAft>
                <a:spcPts val="0"/>
              </a:spcAft>
              <a:buSzPts val="1300"/>
              <a:buNone/>
            </a:pPr>
            <a:r>
              <a:rPr baseline="30000" lang="es-419" sz="1600">
                <a:latin typeface="Lora SemiBold"/>
                <a:ea typeface="Lora SemiBold"/>
                <a:cs typeface="Lora SemiBold"/>
                <a:sym typeface="Lora SemiBold"/>
              </a:rPr>
              <a:t>La mejor recta será entonces la que menor </a:t>
            </a:r>
            <a:r>
              <a:rPr b="1" baseline="30000" lang="es-419" sz="1600">
                <a:latin typeface="Lora"/>
                <a:ea typeface="Lora"/>
                <a:cs typeface="Lora"/>
                <a:sym typeface="Lora"/>
              </a:rPr>
              <a:t>loss</a:t>
            </a:r>
            <a:r>
              <a:rPr baseline="30000" lang="es-419" sz="1600">
                <a:latin typeface="Lora SemiBold"/>
                <a:ea typeface="Lora SemiBold"/>
                <a:cs typeface="Lora SemiBold"/>
                <a:sym typeface="Lora SemiBold"/>
              </a:rPr>
              <a:t> tenga. También es conocido como RSS (Residual Sum of Squares).</a:t>
            </a:r>
            <a:endParaRPr b="1" sz="1600"/>
          </a:p>
          <a:p>
            <a:pPr indent="0" lvl="0" marL="0" rtl="0" algn="l">
              <a:lnSpc>
                <a:spcPct val="115000"/>
              </a:lnSpc>
              <a:spcBef>
                <a:spcPts val="1200"/>
              </a:spcBef>
              <a:spcAft>
                <a:spcPts val="0"/>
              </a:spcAft>
              <a:buSzPts val="1300"/>
              <a:buNone/>
            </a:pPr>
            <a:r>
              <a:rPr b="1" baseline="30000" lang="es-419" sz="1600"/>
              <a:t> Generalizando</a:t>
            </a:r>
            <a:endParaRPr b="1" baseline="30000" sz="1600"/>
          </a:p>
          <a:p>
            <a:pPr indent="0" lvl="0" marL="0" rtl="0" algn="l">
              <a:lnSpc>
                <a:spcPct val="115000"/>
              </a:lnSpc>
              <a:spcBef>
                <a:spcPts val="1200"/>
              </a:spcBef>
              <a:spcAft>
                <a:spcPts val="0"/>
              </a:spcAft>
              <a:buSzPts val="1300"/>
              <a:buNone/>
            </a:pPr>
            <a:r>
              <a:t/>
            </a:r>
            <a:endParaRPr b="1" baseline="30000" sz="1600"/>
          </a:p>
          <a:p>
            <a:pPr indent="0" lvl="0" marL="0" rtl="0" algn="l">
              <a:lnSpc>
                <a:spcPct val="115000"/>
              </a:lnSpc>
              <a:spcBef>
                <a:spcPts val="1200"/>
              </a:spcBef>
              <a:spcAft>
                <a:spcPts val="1200"/>
              </a:spcAft>
              <a:buSzPts val="1300"/>
              <a:buNone/>
            </a:pPr>
            <a:r>
              <a:t/>
            </a:r>
            <a:endParaRPr baseline="30000" sz="1600">
              <a:latin typeface="Lora SemiBold"/>
              <a:ea typeface="Lora SemiBold"/>
              <a:cs typeface="Lora SemiBold"/>
              <a:sym typeface="Lora SemiBold"/>
            </a:endParaRPr>
          </a:p>
        </p:txBody>
      </p:sp>
      <p:pic>
        <p:nvPicPr>
          <p:cNvPr id="142" name="Google Shape;142;p9"/>
          <p:cNvPicPr preferRelativeResize="0"/>
          <p:nvPr/>
        </p:nvPicPr>
        <p:blipFill rotWithShape="1">
          <a:blip r:embed="rId3">
            <a:alphaModFix/>
          </a:blip>
          <a:srcRect b="0" l="0" r="0" t="0"/>
          <a:stretch/>
        </p:blipFill>
        <p:spPr>
          <a:xfrm>
            <a:off x="2368763" y="3346475"/>
            <a:ext cx="4410075" cy="2571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pic>
        <p:nvPicPr>
          <p:cNvPr id="147" name="Google Shape;147;p10"/>
          <p:cNvPicPr preferRelativeResize="0"/>
          <p:nvPr/>
        </p:nvPicPr>
        <p:blipFill rotWithShape="1">
          <a:blip r:embed="rId3">
            <a:alphaModFix/>
          </a:blip>
          <a:srcRect b="0" l="0" r="0" t="0"/>
          <a:stretch/>
        </p:blipFill>
        <p:spPr>
          <a:xfrm>
            <a:off x="1833611" y="624075"/>
            <a:ext cx="5476775" cy="43518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pic>
        <p:nvPicPr>
          <p:cNvPr id="152" name="Google Shape;152;p11"/>
          <p:cNvPicPr preferRelativeResize="0"/>
          <p:nvPr/>
        </p:nvPicPr>
        <p:blipFill rotWithShape="1">
          <a:blip r:embed="rId3">
            <a:alphaModFix/>
          </a:blip>
          <a:srcRect b="0" l="0" r="0" t="0"/>
          <a:stretch/>
        </p:blipFill>
        <p:spPr>
          <a:xfrm>
            <a:off x="2238375" y="1092713"/>
            <a:ext cx="4667250" cy="36671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2"/>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Matricialmente</a:t>
            </a:r>
            <a:endParaRPr/>
          </a:p>
        </p:txBody>
      </p:sp>
      <p:sp>
        <p:nvSpPr>
          <p:cNvPr id="158" name="Google Shape;158;p12"/>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t/>
            </a:r>
            <a:endParaRPr/>
          </a:p>
          <a:p>
            <a:pPr indent="0" lvl="0" marL="0" rtl="0" algn="l">
              <a:lnSpc>
                <a:spcPct val="115000"/>
              </a:lnSpc>
              <a:spcBef>
                <a:spcPts val="1200"/>
              </a:spcBef>
              <a:spcAft>
                <a:spcPts val="0"/>
              </a:spcAft>
              <a:buSzPts val="1300"/>
              <a:buNone/>
            </a:pPr>
            <a:r>
              <a:t/>
            </a:r>
            <a:endParaRPr/>
          </a:p>
          <a:p>
            <a:pPr indent="0" lvl="0" marL="0" rtl="0" algn="l">
              <a:lnSpc>
                <a:spcPct val="115000"/>
              </a:lnSpc>
              <a:spcBef>
                <a:spcPts val="1200"/>
              </a:spcBef>
              <a:spcAft>
                <a:spcPts val="1200"/>
              </a:spcAft>
              <a:buSzPts val="1300"/>
              <a:buNone/>
            </a:pPr>
            <a:r>
              <a:t/>
            </a:r>
            <a:endParaRPr/>
          </a:p>
        </p:txBody>
      </p:sp>
      <p:pic>
        <p:nvPicPr>
          <p:cNvPr id="159" name="Google Shape;159;p12"/>
          <p:cNvPicPr preferRelativeResize="0"/>
          <p:nvPr/>
        </p:nvPicPr>
        <p:blipFill rotWithShape="1">
          <a:blip r:embed="rId3">
            <a:alphaModFix/>
          </a:blip>
          <a:srcRect b="0" l="0" r="0" t="0"/>
          <a:stretch/>
        </p:blipFill>
        <p:spPr>
          <a:xfrm>
            <a:off x="2619051" y="1964450"/>
            <a:ext cx="3909500" cy="2219175"/>
          </a:xfrm>
          <a:prstGeom prst="rect">
            <a:avLst/>
          </a:prstGeom>
          <a:noFill/>
          <a:ln>
            <a:noFill/>
          </a:ln>
        </p:spPr>
      </p:pic>
      <p:sp>
        <p:nvSpPr>
          <p:cNvPr id="160" name="Google Shape;160;p12"/>
          <p:cNvSpPr txBox="1"/>
          <p:nvPr/>
        </p:nvSpPr>
        <p:spPr>
          <a:xfrm>
            <a:off x="623775" y="4434350"/>
            <a:ext cx="7343100" cy="4080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20000"/>
              </a:lnSpc>
              <a:spcBef>
                <a:spcPts val="0"/>
              </a:spcBef>
              <a:spcAft>
                <a:spcPts val="1400"/>
              </a:spcAft>
              <a:buClr>
                <a:srgbClr val="000000"/>
              </a:buClr>
              <a:buSzPts val="1200"/>
              <a:buFont typeface="Arial"/>
              <a:buNone/>
            </a:pPr>
            <a:r>
              <a:rPr b="0" i="0" lang="es-419" sz="1200" u="none" cap="none" strike="noStrike">
                <a:solidFill>
                  <a:srgbClr val="374151"/>
                </a:solidFill>
                <a:highlight>
                  <a:schemeClr val="lt1"/>
                </a:highlight>
                <a:latin typeface="Lato"/>
                <a:ea typeface="Lato"/>
                <a:cs typeface="Lato"/>
                <a:sym typeface="Lato"/>
              </a:rPr>
              <a:t>La primera columna de</a:t>
            </a:r>
            <a:r>
              <a:rPr b="0" i="0" lang="es-419" sz="1450" u="none" cap="none" strike="noStrike">
                <a:solidFill>
                  <a:srgbClr val="374151"/>
                </a:solidFill>
                <a:highlight>
                  <a:schemeClr val="lt1"/>
                </a:highlight>
                <a:latin typeface="Lato"/>
                <a:ea typeface="Lato"/>
                <a:cs typeface="Lato"/>
                <a:sym typeface="Lato"/>
              </a:rPr>
              <a:t> X</a:t>
            </a:r>
            <a:r>
              <a:rPr b="0" i="0" lang="es-419" sz="1200" u="none" cap="none" strike="noStrike">
                <a:solidFill>
                  <a:srgbClr val="374151"/>
                </a:solidFill>
                <a:highlight>
                  <a:schemeClr val="lt1"/>
                </a:highlight>
                <a:latin typeface="Lato"/>
                <a:ea typeface="Lato"/>
                <a:cs typeface="Lato"/>
                <a:sym typeface="Lato"/>
              </a:rPr>
              <a:t> generalmente se llena con unos para tener en cuenta la intersección.</a:t>
            </a:r>
            <a:endParaRPr b="0" i="0" sz="1400" u="none" cap="none" strike="noStrike">
              <a:solidFill>
                <a:srgbClr val="000000"/>
              </a:solidFill>
              <a:highlight>
                <a:schemeClr val="lt1"/>
              </a:highlight>
              <a:latin typeface="Lato"/>
              <a:ea typeface="Lato"/>
              <a:cs typeface="Lato"/>
              <a:sym typeface="La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3"/>
          <p:cNvSpPr txBox="1"/>
          <p:nvPr/>
        </p:nvSpPr>
        <p:spPr>
          <a:xfrm>
            <a:off x="4618650" y="2146350"/>
            <a:ext cx="4341300" cy="1443000"/>
          </a:xfrm>
          <a:prstGeom prst="rect">
            <a:avLst/>
          </a:prstGeom>
          <a:noFill/>
          <a:ln>
            <a:noFill/>
          </a:ln>
        </p:spPr>
        <p:txBody>
          <a:bodyPr anchorCtr="0" anchor="t" bIns="91425" lIns="91425" spcFirstLastPara="1" rIns="91425" wrap="square" tIns="91425">
            <a:spAutoFit/>
          </a:bodyPr>
          <a:lstStyle/>
          <a:p>
            <a:pPr indent="0" lvl="0" marL="0" marR="0" rtl="0" algn="l">
              <a:lnSpc>
                <a:spcPct val="135714"/>
              </a:lnSpc>
              <a:spcBef>
                <a:spcPts val="0"/>
              </a:spcBef>
              <a:spcAft>
                <a:spcPts val="0"/>
              </a:spcAft>
              <a:buClr>
                <a:srgbClr val="000000"/>
              </a:buClr>
              <a:buSzPts val="1050"/>
              <a:buFont typeface="Arial"/>
              <a:buNone/>
            </a:pPr>
            <a:r>
              <a:rPr b="0" i="0" lang="es-419" sz="1050" u="none" cap="none" strike="noStrike">
                <a:solidFill>
                  <a:srgbClr val="000000"/>
                </a:solidFill>
                <a:highlight>
                  <a:srgbClr val="F7F7F7"/>
                </a:highlight>
                <a:latin typeface="Courier New"/>
                <a:ea typeface="Courier New"/>
                <a:cs typeface="Courier New"/>
                <a:sym typeface="Courier New"/>
              </a:rPr>
              <a:t>y_mean = y.mean()</a:t>
            </a:r>
            <a:endParaRPr b="0" i="0" sz="1050" u="none" cap="none" strike="noStrike">
              <a:solidFill>
                <a:srgbClr val="000000"/>
              </a:solidFill>
              <a:highlight>
                <a:srgbClr val="F7F7F7"/>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1050"/>
              <a:buFont typeface="Arial"/>
              <a:buNone/>
            </a:pPr>
            <a:r>
              <a:rPr b="0" i="0" lang="es-419" sz="1050" u="none" cap="none" strike="noStrike">
                <a:solidFill>
                  <a:srgbClr val="000000"/>
                </a:solidFill>
                <a:highlight>
                  <a:srgbClr val="F7F7F7"/>
                </a:highlight>
                <a:latin typeface="Courier New"/>
                <a:ea typeface="Courier New"/>
                <a:cs typeface="Courier New"/>
                <a:sym typeface="Courier New"/>
              </a:rPr>
              <a:t>x_mean = x.mean()</a:t>
            </a:r>
            <a:endParaRPr b="0" i="0" sz="1050" u="none" cap="none" strike="noStrike">
              <a:solidFill>
                <a:srgbClr val="000000"/>
              </a:solidFill>
              <a:highlight>
                <a:srgbClr val="F7F7F7"/>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1050"/>
              <a:buFont typeface="Arial"/>
              <a:buNone/>
            </a:pPr>
            <a:r>
              <a:rPr b="0" i="0" lang="es-419" sz="1050" u="none" cap="none" strike="noStrike">
                <a:solidFill>
                  <a:srgbClr val="000000"/>
                </a:solidFill>
                <a:highlight>
                  <a:srgbClr val="F7F7F7"/>
                </a:highlight>
                <a:latin typeface="Courier New"/>
                <a:ea typeface="Courier New"/>
                <a:cs typeface="Courier New"/>
                <a:sym typeface="Courier New"/>
              </a:rPr>
              <a:t>beta_1 = np.</a:t>
            </a:r>
            <a:r>
              <a:rPr b="0" i="0" lang="es-419" sz="1050" u="none" cap="none" strike="noStrike">
                <a:solidFill>
                  <a:srgbClr val="795E26"/>
                </a:solidFill>
                <a:highlight>
                  <a:srgbClr val="F7F7F7"/>
                </a:highlight>
                <a:latin typeface="Courier New"/>
                <a:ea typeface="Courier New"/>
                <a:cs typeface="Courier New"/>
                <a:sym typeface="Courier New"/>
              </a:rPr>
              <a:t>sum</a:t>
            </a:r>
            <a:r>
              <a:rPr b="0" i="0" lang="es-419" sz="1050" u="none" cap="none" strike="noStrike">
                <a:solidFill>
                  <a:srgbClr val="000000"/>
                </a:solidFill>
                <a:highlight>
                  <a:srgbClr val="F7F7F7"/>
                </a:highlight>
                <a:latin typeface="Courier New"/>
                <a:ea typeface="Courier New"/>
                <a:cs typeface="Courier New"/>
                <a:sym typeface="Courier New"/>
              </a:rPr>
              <a:t>(x.T*(y-y_mean))/np.</a:t>
            </a:r>
            <a:r>
              <a:rPr b="0" i="0" lang="es-419" sz="1050" u="none" cap="none" strike="noStrike">
                <a:solidFill>
                  <a:srgbClr val="795E26"/>
                </a:solidFill>
                <a:highlight>
                  <a:srgbClr val="F7F7F7"/>
                </a:highlight>
                <a:latin typeface="Courier New"/>
                <a:ea typeface="Courier New"/>
                <a:cs typeface="Courier New"/>
                <a:sym typeface="Courier New"/>
              </a:rPr>
              <a:t>sum</a:t>
            </a:r>
            <a:r>
              <a:rPr b="0" i="0" lang="es-419" sz="1050" u="none" cap="none" strike="noStrike">
                <a:solidFill>
                  <a:srgbClr val="000000"/>
                </a:solidFill>
                <a:highlight>
                  <a:srgbClr val="F7F7F7"/>
                </a:highlight>
                <a:latin typeface="Courier New"/>
                <a:ea typeface="Courier New"/>
                <a:cs typeface="Courier New"/>
                <a:sym typeface="Courier New"/>
              </a:rPr>
              <a:t>(x.T*(x.T-x_mean))</a:t>
            </a:r>
            <a:endParaRPr b="0" i="0" sz="1050" u="none" cap="none" strike="noStrike">
              <a:solidFill>
                <a:srgbClr val="000000"/>
              </a:solidFill>
              <a:highlight>
                <a:srgbClr val="F7F7F7"/>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1050"/>
              <a:buFont typeface="Arial"/>
              <a:buNone/>
            </a:pPr>
            <a:r>
              <a:rPr b="0" i="0" lang="es-419" sz="1050" u="none" cap="none" strike="noStrike">
                <a:solidFill>
                  <a:srgbClr val="000000"/>
                </a:solidFill>
                <a:highlight>
                  <a:srgbClr val="F7F7F7"/>
                </a:highlight>
                <a:latin typeface="Courier New"/>
                <a:ea typeface="Courier New"/>
                <a:cs typeface="Courier New"/>
                <a:sym typeface="Courier New"/>
              </a:rPr>
              <a:t>beta_0 = y_mean - beta_1 * x_mean</a:t>
            </a:r>
            <a:endParaRPr b="0" i="0" sz="1050" u="none" cap="none" strike="noStrike">
              <a:solidFill>
                <a:srgbClr val="000000"/>
              </a:solidFill>
              <a:highlight>
                <a:srgbClr val="F7F7F7"/>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1050"/>
              <a:buFont typeface="Arial"/>
              <a:buNone/>
            </a:pPr>
            <a:r>
              <a:rPr b="0" i="0" lang="es-419" sz="1050" u="none" cap="none" strike="noStrike">
                <a:solidFill>
                  <a:srgbClr val="000000"/>
                </a:solidFill>
                <a:highlight>
                  <a:srgbClr val="F7F7F7"/>
                </a:highlight>
                <a:latin typeface="Courier New"/>
                <a:ea typeface="Courier New"/>
                <a:cs typeface="Courier New"/>
                <a:sym typeface="Courier New"/>
              </a:rPr>
              <a:t>beta_1 , beta_0</a:t>
            </a:r>
            <a:endParaRPr b="0" i="0" sz="1050" u="none" cap="none" strike="noStrike">
              <a:solidFill>
                <a:srgbClr val="000000"/>
              </a:solidFill>
              <a:highlight>
                <a:srgbClr val="F7F7F7"/>
              </a:highlight>
              <a:latin typeface="Courier New"/>
              <a:ea typeface="Courier New"/>
              <a:cs typeface="Courier New"/>
              <a:sym typeface="Courier New"/>
            </a:endParaRPr>
          </a:p>
        </p:txBody>
      </p:sp>
      <p:sp>
        <p:nvSpPr>
          <p:cNvPr id="166" name="Google Shape;166;p13"/>
          <p:cNvSpPr txBox="1"/>
          <p:nvPr/>
        </p:nvSpPr>
        <p:spPr>
          <a:xfrm>
            <a:off x="4618650" y="3748900"/>
            <a:ext cx="3000000" cy="515700"/>
          </a:xfrm>
          <a:prstGeom prst="rect">
            <a:avLst/>
          </a:prstGeom>
          <a:noFill/>
          <a:ln>
            <a:noFill/>
          </a:ln>
        </p:spPr>
        <p:txBody>
          <a:bodyPr anchorCtr="0" anchor="t" bIns="91425" lIns="91425" spcFirstLastPara="1" rIns="91425" wrap="square" tIns="91425">
            <a:spAutoFit/>
          </a:bodyPr>
          <a:lstStyle/>
          <a:p>
            <a:pPr indent="0" lvl="0" marL="50800" marR="12700" rtl="0" algn="l">
              <a:lnSpc>
                <a:spcPct val="115000"/>
              </a:lnSpc>
              <a:spcBef>
                <a:spcPts val="100"/>
              </a:spcBef>
              <a:spcAft>
                <a:spcPts val="0"/>
              </a:spcAft>
              <a:buClr>
                <a:srgbClr val="000000"/>
              </a:buClr>
              <a:buSzPts val="1000"/>
              <a:buFont typeface="Arial"/>
              <a:buNone/>
            </a:pPr>
            <a:r>
              <a:rPr b="0" i="0" lang="es-419" sz="1000" u="none" cap="none" strike="noStrike">
                <a:solidFill>
                  <a:srgbClr val="000000"/>
                </a:solidFill>
                <a:latin typeface="Arial"/>
                <a:ea typeface="Arial"/>
                <a:cs typeface="Arial"/>
                <a:sym typeface="Arial"/>
              </a:rPr>
              <a:t>(0.7000000000000001, 1.2999999999999998)</a:t>
            </a:r>
            <a:endParaRPr b="0" i="0" sz="100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167" name="Google Shape;167;p13"/>
          <p:cNvSpPr txBox="1"/>
          <p:nvPr/>
        </p:nvSpPr>
        <p:spPr>
          <a:xfrm>
            <a:off x="682275" y="2211125"/>
            <a:ext cx="3000000" cy="565500"/>
          </a:xfrm>
          <a:prstGeom prst="rect">
            <a:avLst/>
          </a:prstGeom>
          <a:noFill/>
          <a:ln>
            <a:noFill/>
          </a:ln>
        </p:spPr>
        <p:txBody>
          <a:bodyPr anchorCtr="0" anchor="t" bIns="91425" lIns="91425" spcFirstLastPara="1" rIns="91425" wrap="square" tIns="91425">
            <a:spAutoFit/>
          </a:bodyPr>
          <a:lstStyle/>
          <a:p>
            <a:pPr indent="0" lvl="0" marL="0" marR="0" rtl="0" algn="l">
              <a:lnSpc>
                <a:spcPct val="135714"/>
              </a:lnSpc>
              <a:spcBef>
                <a:spcPts val="0"/>
              </a:spcBef>
              <a:spcAft>
                <a:spcPts val="0"/>
              </a:spcAft>
              <a:buClr>
                <a:srgbClr val="000000"/>
              </a:buClr>
              <a:buSzPts val="1050"/>
              <a:buFont typeface="Arial"/>
              <a:buNone/>
            </a:pPr>
            <a:r>
              <a:rPr b="0" i="0" lang="es-419" sz="1050" u="none" cap="none" strike="noStrike">
                <a:solidFill>
                  <a:srgbClr val="000000"/>
                </a:solidFill>
                <a:highlight>
                  <a:srgbClr val="F7F7F7"/>
                </a:highlight>
                <a:latin typeface="Courier New"/>
                <a:ea typeface="Courier New"/>
                <a:cs typeface="Courier New"/>
                <a:sym typeface="Courier New"/>
              </a:rPr>
              <a:t>model = LinearRegression()</a:t>
            </a:r>
            <a:endParaRPr b="0" i="0" sz="1050" u="none" cap="none" strike="noStrike">
              <a:solidFill>
                <a:srgbClr val="000000"/>
              </a:solidFill>
              <a:highlight>
                <a:srgbClr val="F7F7F7"/>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1050"/>
              <a:buFont typeface="Arial"/>
              <a:buNone/>
            </a:pPr>
            <a:r>
              <a:rPr b="0" i="0" lang="es-419" sz="1050" u="none" cap="none" strike="noStrike">
                <a:solidFill>
                  <a:srgbClr val="000000"/>
                </a:solidFill>
                <a:highlight>
                  <a:srgbClr val="F7F7F7"/>
                </a:highlight>
                <a:latin typeface="Courier New"/>
                <a:ea typeface="Courier New"/>
                <a:cs typeface="Courier New"/>
                <a:sym typeface="Courier New"/>
              </a:rPr>
              <a:t>model.fit(x, y)</a:t>
            </a:r>
            <a:endParaRPr b="0" i="0" sz="1050" u="none" cap="none" strike="noStrike">
              <a:solidFill>
                <a:srgbClr val="000000"/>
              </a:solidFill>
              <a:highlight>
                <a:srgbClr val="F7F7F7"/>
              </a:highlight>
              <a:latin typeface="Courier New"/>
              <a:ea typeface="Courier New"/>
              <a:cs typeface="Courier New"/>
              <a:sym typeface="Courier New"/>
            </a:endParaRPr>
          </a:p>
        </p:txBody>
      </p:sp>
      <p:sp>
        <p:nvSpPr>
          <p:cNvPr id="168" name="Google Shape;168;p13"/>
          <p:cNvSpPr txBox="1"/>
          <p:nvPr/>
        </p:nvSpPr>
        <p:spPr>
          <a:xfrm>
            <a:off x="682275" y="2776625"/>
            <a:ext cx="3000000" cy="785100"/>
          </a:xfrm>
          <a:prstGeom prst="rect">
            <a:avLst/>
          </a:prstGeom>
          <a:noFill/>
          <a:ln>
            <a:noFill/>
          </a:ln>
        </p:spPr>
        <p:txBody>
          <a:bodyPr anchorCtr="0" anchor="t" bIns="91425" lIns="91425" spcFirstLastPara="1" rIns="91425" wrap="square" tIns="91425">
            <a:spAutoFit/>
          </a:bodyPr>
          <a:lstStyle/>
          <a:p>
            <a:pPr indent="0" lvl="0" marL="0" marR="0" rtl="0" algn="l">
              <a:lnSpc>
                <a:spcPct val="135714"/>
              </a:lnSpc>
              <a:spcBef>
                <a:spcPts val="0"/>
              </a:spcBef>
              <a:spcAft>
                <a:spcPts val="0"/>
              </a:spcAft>
              <a:buClr>
                <a:srgbClr val="000000"/>
              </a:buClr>
              <a:buSzPts val="1050"/>
              <a:buFont typeface="Arial"/>
              <a:buNone/>
            </a:pPr>
            <a:r>
              <a:rPr b="0" i="0" lang="es-419" sz="1050" u="none" cap="none" strike="noStrike">
                <a:solidFill>
                  <a:srgbClr val="000000"/>
                </a:solidFill>
                <a:highlight>
                  <a:srgbClr val="F7F7F7"/>
                </a:highlight>
                <a:latin typeface="Courier New"/>
                <a:ea typeface="Courier New"/>
                <a:cs typeface="Courier New"/>
                <a:sym typeface="Courier New"/>
              </a:rPr>
              <a:t>pendiente = model.coef_[</a:t>
            </a:r>
            <a:r>
              <a:rPr b="0" i="0" lang="es-419" sz="1050" u="none" cap="none" strike="noStrike">
                <a:solidFill>
                  <a:srgbClr val="098156"/>
                </a:solidFill>
                <a:highlight>
                  <a:srgbClr val="F7F7F7"/>
                </a:highlight>
                <a:latin typeface="Courier New"/>
                <a:ea typeface="Courier New"/>
                <a:cs typeface="Courier New"/>
                <a:sym typeface="Courier New"/>
              </a:rPr>
              <a:t>0</a:t>
            </a:r>
            <a:r>
              <a:rPr b="0" i="0" lang="es-419" sz="1050" u="none" cap="none" strike="noStrike">
                <a:solidFill>
                  <a:srgbClr val="000000"/>
                </a:solidFill>
                <a:highlight>
                  <a:srgbClr val="F7F7F7"/>
                </a:highlight>
                <a:latin typeface="Courier New"/>
                <a:ea typeface="Courier New"/>
                <a:cs typeface="Courier New"/>
                <a:sym typeface="Courier New"/>
              </a:rPr>
              <a:t>]</a:t>
            </a:r>
            <a:endParaRPr b="0" i="0" sz="1050" u="none" cap="none" strike="noStrike">
              <a:solidFill>
                <a:srgbClr val="000000"/>
              </a:solidFill>
              <a:highlight>
                <a:srgbClr val="F7F7F7"/>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1050"/>
              <a:buFont typeface="Arial"/>
              <a:buNone/>
            </a:pPr>
            <a:r>
              <a:rPr b="0" i="0" lang="es-419" sz="1050" u="none" cap="none" strike="noStrike">
                <a:solidFill>
                  <a:srgbClr val="000000"/>
                </a:solidFill>
                <a:highlight>
                  <a:srgbClr val="F7F7F7"/>
                </a:highlight>
                <a:latin typeface="Courier New"/>
                <a:ea typeface="Courier New"/>
                <a:cs typeface="Courier New"/>
                <a:sym typeface="Courier New"/>
              </a:rPr>
              <a:t>intercepto = model.intercept_</a:t>
            </a:r>
            <a:endParaRPr b="0" i="0" sz="1050" u="none" cap="none" strike="noStrike">
              <a:solidFill>
                <a:srgbClr val="000000"/>
              </a:solidFill>
              <a:highlight>
                <a:srgbClr val="F7F7F7"/>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1050"/>
              <a:buFont typeface="Arial"/>
              <a:buNone/>
            </a:pPr>
            <a:r>
              <a:rPr b="0" i="0" lang="es-419" sz="1050" u="none" cap="none" strike="noStrike">
                <a:solidFill>
                  <a:srgbClr val="000000"/>
                </a:solidFill>
                <a:highlight>
                  <a:srgbClr val="F7F7F7"/>
                </a:highlight>
                <a:latin typeface="Courier New"/>
                <a:ea typeface="Courier New"/>
                <a:cs typeface="Courier New"/>
                <a:sym typeface="Courier New"/>
              </a:rPr>
              <a:t>pendiente, intercepto</a:t>
            </a:r>
            <a:endParaRPr b="0" i="0" sz="1050" u="none" cap="none" strike="noStrike">
              <a:solidFill>
                <a:srgbClr val="000000"/>
              </a:solidFill>
              <a:highlight>
                <a:srgbClr val="F7F7F7"/>
              </a:highlight>
              <a:latin typeface="Courier New"/>
              <a:ea typeface="Courier New"/>
              <a:cs typeface="Courier New"/>
              <a:sym typeface="Courier New"/>
            </a:endParaRPr>
          </a:p>
        </p:txBody>
      </p:sp>
      <p:sp>
        <p:nvSpPr>
          <p:cNvPr id="169" name="Google Shape;169;p13"/>
          <p:cNvSpPr txBox="1"/>
          <p:nvPr/>
        </p:nvSpPr>
        <p:spPr>
          <a:xfrm>
            <a:off x="682275" y="3748900"/>
            <a:ext cx="3434100" cy="346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50"/>
              <a:buFont typeface="Arial"/>
              <a:buNone/>
            </a:pPr>
            <a:r>
              <a:rPr b="0" i="0" lang="es-419" sz="1050" u="none" cap="none" strike="noStrike">
                <a:solidFill>
                  <a:srgbClr val="212121"/>
                </a:solidFill>
                <a:highlight>
                  <a:srgbClr val="FFFFFF"/>
                </a:highlight>
                <a:latin typeface="Courier New"/>
                <a:ea typeface="Courier New"/>
                <a:cs typeface="Courier New"/>
                <a:sym typeface="Courier New"/>
              </a:rPr>
              <a:t>(0.7000000000000002, 1.2999999999999994)</a:t>
            </a:r>
            <a:endParaRPr b="0" i="0" sz="1400" u="none" cap="none" strike="noStrike">
              <a:solidFill>
                <a:srgbClr val="000000"/>
              </a:solidFill>
              <a:latin typeface="Arial"/>
              <a:ea typeface="Arial"/>
              <a:cs typeface="Arial"/>
              <a:sym typeface="Arial"/>
            </a:endParaRPr>
          </a:p>
        </p:txBody>
      </p:sp>
      <p:sp>
        <p:nvSpPr>
          <p:cNvPr id="170" name="Google Shape;170;p13"/>
          <p:cNvSpPr txBox="1"/>
          <p:nvPr/>
        </p:nvSpPr>
        <p:spPr>
          <a:xfrm>
            <a:off x="2555100" y="877250"/>
            <a:ext cx="4033800" cy="785100"/>
          </a:xfrm>
          <a:prstGeom prst="rect">
            <a:avLst/>
          </a:prstGeom>
          <a:noFill/>
          <a:ln>
            <a:noFill/>
          </a:ln>
        </p:spPr>
        <p:txBody>
          <a:bodyPr anchorCtr="0" anchor="t" bIns="91425" lIns="91425" spcFirstLastPara="1" rIns="91425" wrap="square" tIns="91425">
            <a:spAutoFit/>
          </a:bodyPr>
          <a:lstStyle/>
          <a:p>
            <a:pPr indent="0" lvl="0" marL="0" marR="0" rtl="0" algn="l">
              <a:lnSpc>
                <a:spcPct val="135714"/>
              </a:lnSpc>
              <a:spcBef>
                <a:spcPts val="0"/>
              </a:spcBef>
              <a:spcAft>
                <a:spcPts val="0"/>
              </a:spcAft>
              <a:buClr>
                <a:srgbClr val="000000"/>
              </a:buClr>
              <a:buSzPts val="1050"/>
              <a:buFont typeface="Arial"/>
              <a:buNone/>
            </a:pPr>
            <a:r>
              <a:rPr b="0" i="0" lang="es-419" sz="1050" u="none" cap="none" strike="noStrike">
                <a:solidFill>
                  <a:srgbClr val="000000"/>
                </a:solidFill>
                <a:highlight>
                  <a:srgbClr val="F7F7F7"/>
                </a:highlight>
                <a:latin typeface="Courier New"/>
                <a:ea typeface="Courier New"/>
                <a:cs typeface="Courier New"/>
                <a:sym typeface="Courier New"/>
              </a:rPr>
              <a:t>Data</a:t>
            </a:r>
            <a:endParaRPr b="0" i="0" sz="1050" u="none" cap="none" strike="noStrike">
              <a:solidFill>
                <a:srgbClr val="000000"/>
              </a:solidFill>
              <a:highlight>
                <a:srgbClr val="F7F7F7"/>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1050"/>
              <a:buFont typeface="Arial"/>
              <a:buNone/>
            </a:pPr>
            <a:r>
              <a:rPr b="0" i="0" lang="es-419" sz="1050" u="none" cap="none" strike="noStrike">
                <a:solidFill>
                  <a:srgbClr val="000000"/>
                </a:solidFill>
                <a:highlight>
                  <a:srgbClr val="F7F7F7"/>
                </a:highlight>
                <a:latin typeface="Courier New"/>
                <a:ea typeface="Courier New"/>
                <a:cs typeface="Courier New"/>
                <a:sym typeface="Courier New"/>
              </a:rPr>
              <a:t>x = np.array([</a:t>
            </a:r>
            <a:r>
              <a:rPr b="0" i="0" lang="es-419" sz="1050" u="none" cap="none" strike="noStrike">
                <a:solidFill>
                  <a:srgbClr val="098156"/>
                </a:solidFill>
                <a:highlight>
                  <a:srgbClr val="F7F7F7"/>
                </a:highlight>
                <a:latin typeface="Courier New"/>
                <a:ea typeface="Courier New"/>
                <a:cs typeface="Courier New"/>
                <a:sym typeface="Courier New"/>
              </a:rPr>
              <a:t>1</a:t>
            </a:r>
            <a:r>
              <a:rPr b="0" i="0" lang="es-419" sz="1050" u="none" cap="none" strike="noStrike">
                <a:solidFill>
                  <a:srgbClr val="000000"/>
                </a:solidFill>
                <a:highlight>
                  <a:srgbClr val="F7F7F7"/>
                </a:highlight>
                <a:latin typeface="Courier New"/>
                <a:ea typeface="Courier New"/>
                <a:cs typeface="Courier New"/>
                <a:sym typeface="Courier New"/>
              </a:rPr>
              <a:t>, </a:t>
            </a:r>
            <a:r>
              <a:rPr b="0" i="0" lang="es-419" sz="1050" u="none" cap="none" strike="noStrike">
                <a:solidFill>
                  <a:srgbClr val="098156"/>
                </a:solidFill>
                <a:highlight>
                  <a:srgbClr val="F7F7F7"/>
                </a:highlight>
                <a:latin typeface="Courier New"/>
                <a:ea typeface="Courier New"/>
                <a:cs typeface="Courier New"/>
                <a:sym typeface="Courier New"/>
              </a:rPr>
              <a:t>2</a:t>
            </a:r>
            <a:r>
              <a:rPr b="0" i="0" lang="es-419" sz="1050" u="none" cap="none" strike="noStrike">
                <a:solidFill>
                  <a:srgbClr val="000000"/>
                </a:solidFill>
                <a:highlight>
                  <a:srgbClr val="F7F7F7"/>
                </a:highlight>
                <a:latin typeface="Courier New"/>
                <a:ea typeface="Courier New"/>
                <a:cs typeface="Courier New"/>
                <a:sym typeface="Courier New"/>
              </a:rPr>
              <a:t>, </a:t>
            </a:r>
            <a:r>
              <a:rPr b="0" i="0" lang="es-419" sz="1050" u="none" cap="none" strike="noStrike">
                <a:solidFill>
                  <a:srgbClr val="098156"/>
                </a:solidFill>
                <a:highlight>
                  <a:srgbClr val="F7F7F7"/>
                </a:highlight>
                <a:latin typeface="Courier New"/>
                <a:ea typeface="Courier New"/>
                <a:cs typeface="Courier New"/>
                <a:sym typeface="Courier New"/>
              </a:rPr>
              <a:t>3</a:t>
            </a:r>
            <a:r>
              <a:rPr b="0" i="0" lang="es-419" sz="1050" u="none" cap="none" strike="noStrike">
                <a:solidFill>
                  <a:srgbClr val="000000"/>
                </a:solidFill>
                <a:highlight>
                  <a:srgbClr val="F7F7F7"/>
                </a:highlight>
                <a:latin typeface="Courier New"/>
                <a:ea typeface="Courier New"/>
                <a:cs typeface="Courier New"/>
                <a:sym typeface="Courier New"/>
              </a:rPr>
              <a:t>, </a:t>
            </a:r>
            <a:r>
              <a:rPr b="0" i="0" lang="es-419" sz="1050" u="none" cap="none" strike="noStrike">
                <a:solidFill>
                  <a:srgbClr val="098156"/>
                </a:solidFill>
                <a:highlight>
                  <a:srgbClr val="F7F7F7"/>
                </a:highlight>
                <a:latin typeface="Courier New"/>
                <a:ea typeface="Courier New"/>
                <a:cs typeface="Courier New"/>
                <a:sym typeface="Courier New"/>
              </a:rPr>
              <a:t>4</a:t>
            </a:r>
            <a:r>
              <a:rPr b="0" i="0" lang="es-419" sz="1050" u="none" cap="none" strike="noStrike">
                <a:solidFill>
                  <a:srgbClr val="000000"/>
                </a:solidFill>
                <a:highlight>
                  <a:srgbClr val="F7F7F7"/>
                </a:highlight>
                <a:latin typeface="Courier New"/>
                <a:ea typeface="Courier New"/>
                <a:cs typeface="Courier New"/>
                <a:sym typeface="Courier New"/>
              </a:rPr>
              <a:t>, </a:t>
            </a:r>
            <a:r>
              <a:rPr b="0" i="0" lang="es-419" sz="1050" u="none" cap="none" strike="noStrike">
                <a:solidFill>
                  <a:srgbClr val="098156"/>
                </a:solidFill>
                <a:highlight>
                  <a:srgbClr val="F7F7F7"/>
                </a:highlight>
                <a:latin typeface="Courier New"/>
                <a:ea typeface="Courier New"/>
                <a:cs typeface="Courier New"/>
                <a:sym typeface="Courier New"/>
              </a:rPr>
              <a:t>5</a:t>
            </a:r>
            <a:r>
              <a:rPr b="0" i="0" lang="es-419" sz="1050" u="none" cap="none" strike="noStrike">
                <a:solidFill>
                  <a:srgbClr val="000000"/>
                </a:solidFill>
                <a:highlight>
                  <a:srgbClr val="F7F7F7"/>
                </a:highlight>
                <a:latin typeface="Courier New"/>
                <a:ea typeface="Courier New"/>
                <a:cs typeface="Courier New"/>
                <a:sym typeface="Courier New"/>
              </a:rPr>
              <a:t>])</a:t>
            </a:r>
            <a:endParaRPr b="0" i="0" sz="1050" u="none" cap="none" strike="noStrike">
              <a:solidFill>
                <a:srgbClr val="000000"/>
              </a:solidFill>
              <a:highlight>
                <a:srgbClr val="F7F7F7"/>
              </a:highlight>
              <a:latin typeface="Courier New"/>
              <a:ea typeface="Courier New"/>
              <a:cs typeface="Courier New"/>
              <a:sym typeface="Courier New"/>
            </a:endParaRPr>
          </a:p>
          <a:p>
            <a:pPr indent="0" lvl="0" marL="0" marR="0" rtl="0" algn="l">
              <a:lnSpc>
                <a:spcPct val="135714"/>
              </a:lnSpc>
              <a:spcBef>
                <a:spcPts val="0"/>
              </a:spcBef>
              <a:spcAft>
                <a:spcPts val="0"/>
              </a:spcAft>
              <a:buClr>
                <a:srgbClr val="000000"/>
              </a:buClr>
              <a:buSzPts val="1050"/>
              <a:buFont typeface="Arial"/>
              <a:buNone/>
            </a:pPr>
            <a:r>
              <a:rPr b="0" i="0" lang="es-419" sz="1050" u="none" cap="none" strike="noStrike">
                <a:solidFill>
                  <a:srgbClr val="000000"/>
                </a:solidFill>
                <a:highlight>
                  <a:srgbClr val="F7F7F7"/>
                </a:highlight>
                <a:latin typeface="Courier New"/>
                <a:ea typeface="Courier New"/>
                <a:cs typeface="Courier New"/>
                <a:sym typeface="Courier New"/>
              </a:rPr>
              <a:t>y = np.array([</a:t>
            </a:r>
            <a:r>
              <a:rPr b="0" i="0" lang="es-419" sz="1050" u="none" cap="none" strike="noStrike">
                <a:solidFill>
                  <a:srgbClr val="098156"/>
                </a:solidFill>
                <a:highlight>
                  <a:srgbClr val="F7F7F7"/>
                </a:highlight>
                <a:latin typeface="Courier New"/>
                <a:ea typeface="Courier New"/>
                <a:cs typeface="Courier New"/>
                <a:sym typeface="Courier New"/>
              </a:rPr>
              <a:t>2</a:t>
            </a:r>
            <a:r>
              <a:rPr b="0" i="0" lang="es-419" sz="1050" u="none" cap="none" strike="noStrike">
                <a:solidFill>
                  <a:srgbClr val="000000"/>
                </a:solidFill>
                <a:highlight>
                  <a:srgbClr val="F7F7F7"/>
                </a:highlight>
                <a:latin typeface="Courier New"/>
                <a:ea typeface="Courier New"/>
                <a:cs typeface="Courier New"/>
                <a:sym typeface="Courier New"/>
              </a:rPr>
              <a:t>, </a:t>
            </a:r>
            <a:r>
              <a:rPr b="0" i="0" lang="es-419" sz="1050" u="none" cap="none" strike="noStrike">
                <a:solidFill>
                  <a:srgbClr val="098156"/>
                </a:solidFill>
                <a:highlight>
                  <a:srgbClr val="F7F7F7"/>
                </a:highlight>
                <a:latin typeface="Courier New"/>
                <a:ea typeface="Courier New"/>
                <a:cs typeface="Courier New"/>
                <a:sym typeface="Courier New"/>
              </a:rPr>
              <a:t>3</a:t>
            </a:r>
            <a:r>
              <a:rPr b="0" i="0" lang="es-419" sz="1050" u="none" cap="none" strike="noStrike">
                <a:solidFill>
                  <a:srgbClr val="000000"/>
                </a:solidFill>
                <a:highlight>
                  <a:srgbClr val="F7F7F7"/>
                </a:highlight>
                <a:latin typeface="Courier New"/>
                <a:ea typeface="Courier New"/>
                <a:cs typeface="Courier New"/>
                <a:sym typeface="Courier New"/>
              </a:rPr>
              <a:t>, </a:t>
            </a:r>
            <a:r>
              <a:rPr b="0" i="0" lang="es-419" sz="1050" u="none" cap="none" strike="noStrike">
                <a:solidFill>
                  <a:srgbClr val="098156"/>
                </a:solidFill>
                <a:highlight>
                  <a:srgbClr val="F7F7F7"/>
                </a:highlight>
                <a:latin typeface="Courier New"/>
                <a:ea typeface="Courier New"/>
                <a:cs typeface="Courier New"/>
                <a:sym typeface="Courier New"/>
              </a:rPr>
              <a:t>4</a:t>
            </a:r>
            <a:r>
              <a:rPr b="0" i="0" lang="es-419" sz="1050" u="none" cap="none" strike="noStrike">
                <a:solidFill>
                  <a:srgbClr val="000000"/>
                </a:solidFill>
                <a:highlight>
                  <a:srgbClr val="F7F7F7"/>
                </a:highlight>
                <a:latin typeface="Courier New"/>
                <a:ea typeface="Courier New"/>
                <a:cs typeface="Courier New"/>
                <a:sym typeface="Courier New"/>
              </a:rPr>
              <a:t>, </a:t>
            </a:r>
            <a:r>
              <a:rPr b="0" i="0" lang="es-419" sz="1050" u="none" cap="none" strike="noStrike">
                <a:solidFill>
                  <a:srgbClr val="098156"/>
                </a:solidFill>
                <a:highlight>
                  <a:srgbClr val="F7F7F7"/>
                </a:highlight>
                <a:latin typeface="Courier New"/>
                <a:ea typeface="Courier New"/>
                <a:cs typeface="Courier New"/>
                <a:sym typeface="Courier New"/>
              </a:rPr>
              <a:t>2</a:t>
            </a:r>
            <a:r>
              <a:rPr b="0" i="0" lang="es-419" sz="1050" u="none" cap="none" strike="noStrike">
                <a:solidFill>
                  <a:srgbClr val="000000"/>
                </a:solidFill>
                <a:highlight>
                  <a:srgbClr val="F7F7F7"/>
                </a:highlight>
                <a:latin typeface="Courier New"/>
                <a:ea typeface="Courier New"/>
                <a:cs typeface="Courier New"/>
                <a:sym typeface="Courier New"/>
              </a:rPr>
              <a:t>, </a:t>
            </a:r>
            <a:r>
              <a:rPr b="0" i="0" lang="es-419" sz="1050" u="none" cap="none" strike="noStrike">
                <a:solidFill>
                  <a:srgbClr val="098156"/>
                </a:solidFill>
                <a:highlight>
                  <a:srgbClr val="F7F7F7"/>
                </a:highlight>
                <a:latin typeface="Courier New"/>
                <a:ea typeface="Courier New"/>
                <a:cs typeface="Courier New"/>
                <a:sym typeface="Courier New"/>
              </a:rPr>
              <a:t>6</a:t>
            </a:r>
            <a:r>
              <a:rPr b="0" i="0" lang="es-419" sz="1050" u="none" cap="none" strike="noStrike">
                <a:solidFill>
                  <a:srgbClr val="000000"/>
                </a:solidFill>
                <a:highlight>
                  <a:srgbClr val="F7F7F7"/>
                </a:highlight>
                <a:latin typeface="Courier New"/>
                <a:ea typeface="Courier New"/>
                <a:cs typeface="Courier New"/>
                <a:sym typeface="Courier New"/>
              </a:rPr>
              <a:t>])</a:t>
            </a:r>
            <a:endParaRPr b="0" i="0" sz="1050" u="none" cap="none" strike="noStrike">
              <a:solidFill>
                <a:srgbClr val="000000"/>
              </a:solidFill>
              <a:highlight>
                <a:srgbClr val="F7F7F7"/>
              </a:highlight>
              <a:latin typeface="Courier New"/>
              <a:ea typeface="Courier New"/>
              <a:cs typeface="Courier New"/>
              <a:sym typeface="Courier New"/>
            </a:endParaRPr>
          </a:p>
        </p:txBody>
      </p:sp>
      <p:sp>
        <p:nvSpPr>
          <p:cNvPr id="171" name="Google Shape;171;p13"/>
          <p:cNvSpPr txBox="1"/>
          <p:nvPr/>
        </p:nvSpPr>
        <p:spPr>
          <a:xfrm>
            <a:off x="432650" y="1826213"/>
            <a:ext cx="69222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s-419" sz="1300" u="none" cap="none" strike="noStrike">
                <a:solidFill>
                  <a:schemeClr val="accent1"/>
                </a:solidFill>
                <a:latin typeface="Lato"/>
                <a:ea typeface="Lato"/>
                <a:cs typeface="Lato"/>
                <a:sym typeface="Lato"/>
              </a:rPr>
              <a:t>scikit-learn</a:t>
            </a:r>
            <a:endParaRPr b="0" i="0" sz="1300" u="none" cap="none" strike="noStrike">
              <a:solidFill>
                <a:schemeClr val="accent1"/>
              </a:solidFill>
              <a:latin typeface="Lato"/>
              <a:ea typeface="Lato"/>
              <a:cs typeface="Lato"/>
              <a:sym typeface="Lato"/>
            </a:endParaRPr>
          </a:p>
        </p:txBody>
      </p:sp>
      <p:sp>
        <p:nvSpPr>
          <p:cNvPr id="172" name="Google Shape;172;p13"/>
          <p:cNvSpPr txBox="1"/>
          <p:nvPr/>
        </p:nvSpPr>
        <p:spPr>
          <a:xfrm>
            <a:off x="6588900" y="2030525"/>
            <a:ext cx="33048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s-419" sz="1300" u="none" cap="none" strike="noStrike">
                <a:solidFill>
                  <a:schemeClr val="accent1"/>
                </a:solidFill>
                <a:latin typeface="Lato"/>
                <a:ea typeface="Lato"/>
                <a:cs typeface="Lato"/>
                <a:sym typeface="Lato"/>
              </a:rPr>
              <a:t>numpy</a:t>
            </a:r>
            <a:endParaRPr b="0" i="0" sz="1300" u="none" cap="none" strike="noStrike">
              <a:solidFill>
                <a:schemeClr val="accent1"/>
              </a:solidFill>
              <a:latin typeface="Lato"/>
              <a:ea typeface="Lato"/>
              <a:cs typeface="Lato"/>
              <a:sym typeface="La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4"/>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Métricas</a:t>
            </a:r>
            <a:endParaRPr/>
          </a:p>
        </p:txBody>
      </p:sp>
      <p:sp>
        <p:nvSpPr>
          <p:cNvPr id="178" name="Google Shape;178;p14"/>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0" lvl="0" marL="0" rtl="0" algn="l">
              <a:lnSpc>
                <a:spcPct val="95000"/>
              </a:lnSpc>
              <a:spcBef>
                <a:spcPts val="0"/>
              </a:spcBef>
              <a:spcAft>
                <a:spcPts val="0"/>
              </a:spcAft>
              <a:buSzPts val="935"/>
              <a:buNone/>
            </a:pPr>
            <a:r>
              <a:rPr lang="es-419" sz="1400"/>
              <a:t>MSE = RSS / n</a:t>
            </a:r>
            <a:endParaRPr sz="1400"/>
          </a:p>
          <a:p>
            <a:pPr indent="0" lvl="0" marL="0" rtl="0" algn="l">
              <a:lnSpc>
                <a:spcPct val="95000"/>
              </a:lnSpc>
              <a:spcBef>
                <a:spcPts val="1200"/>
              </a:spcBef>
              <a:spcAft>
                <a:spcPts val="0"/>
              </a:spcAft>
              <a:buSzPts val="935"/>
              <a:buNone/>
            </a:pPr>
            <a:r>
              <a:rPr lang="es-419" sz="1400"/>
              <a:t>RMSE (root mean squared error) = </a:t>
            </a:r>
            <a:r>
              <a:rPr lang="es-419" sz="1400">
                <a:solidFill>
                  <a:srgbClr val="202124"/>
                </a:solidFill>
                <a:highlight>
                  <a:srgbClr val="FFFFFF"/>
                </a:highlight>
                <a:latin typeface="Arial"/>
                <a:ea typeface="Arial"/>
                <a:cs typeface="Arial"/>
                <a:sym typeface="Arial"/>
              </a:rPr>
              <a:t>√MSE</a:t>
            </a:r>
            <a:endParaRPr sz="1400">
              <a:solidFill>
                <a:srgbClr val="202124"/>
              </a:solidFill>
              <a:highlight>
                <a:srgbClr val="FFFFFF"/>
              </a:highlight>
              <a:latin typeface="Arial"/>
              <a:ea typeface="Arial"/>
              <a:cs typeface="Arial"/>
              <a:sym typeface="Arial"/>
            </a:endParaRPr>
          </a:p>
          <a:p>
            <a:pPr indent="0" lvl="0" marL="0" rtl="0" algn="l">
              <a:lnSpc>
                <a:spcPct val="95000"/>
              </a:lnSpc>
              <a:spcBef>
                <a:spcPts val="1200"/>
              </a:spcBef>
              <a:spcAft>
                <a:spcPts val="0"/>
              </a:spcAft>
              <a:buSzPts val="935"/>
              <a:buNone/>
            </a:pPr>
            <a:r>
              <a:t/>
            </a:r>
            <a:endParaRPr sz="1400">
              <a:solidFill>
                <a:srgbClr val="202124"/>
              </a:solidFill>
              <a:highlight>
                <a:srgbClr val="FFFFFF"/>
              </a:highlight>
              <a:latin typeface="Arial"/>
              <a:ea typeface="Arial"/>
              <a:cs typeface="Arial"/>
              <a:sym typeface="Arial"/>
            </a:endParaRPr>
          </a:p>
          <a:p>
            <a:pPr indent="0" lvl="0" marL="0" rtl="0" algn="l">
              <a:lnSpc>
                <a:spcPct val="95000"/>
              </a:lnSpc>
              <a:spcBef>
                <a:spcPts val="1200"/>
              </a:spcBef>
              <a:spcAft>
                <a:spcPts val="0"/>
              </a:spcAft>
              <a:buSzPts val="935"/>
              <a:buNone/>
            </a:pPr>
            <a:r>
              <a:rPr lang="es-419" sz="1400">
                <a:solidFill>
                  <a:srgbClr val="202124"/>
                </a:solidFill>
                <a:highlight>
                  <a:srgbClr val="FFFFFF"/>
                </a:highlight>
                <a:latin typeface="Arial"/>
                <a:ea typeface="Arial"/>
                <a:cs typeface="Arial"/>
                <a:sym typeface="Arial"/>
              </a:rPr>
              <a:t>MAE (mean absolute error) = </a:t>
            </a:r>
            <a:endParaRPr sz="1400">
              <a:solidFill>
                <a:srgbClr val="202124"/>
              </a:solidFill>
              <a:highlight>
                <a:srgbClr val="FFFFFF"/>
              </a:highlight>
              <a:latin typeface="Arial"/>
              <a:ea typeface="Arial"/>
              <a:cs typeface="Arial"/>
              <a:sym typeface="Arial"/>
            </a:endParaRPr>
          </a:p>
          <a:p>
            <a:pPr indent="0" lvl="0" marL="0" rtl="0" algn="l">
              <a:lnSpc>
                <a:spcPct val="95000"/>
              </a:lnSpc>
              <a:spcBef>
                <a:spcPts val="1200"/>
              </a:spcBef>
              <a:spcAft>
                <a:spcPts val="0"/>
              </a:spcAft>
              <a:buSzPts val="935"/>
              <a:buNone/>
            </a:pPr>
            <a:r>
              <a:t/>
            </a:r>
            <a:endParaRPr sz="1400">
              <a:solidFill>
                <a:srgbClr val="202124"/>
              </a:solidFill>
              <a:highlight>
                <a:srgbClr val="FFFFFF"/>
              </a:highlight>
              <a:latin typeface="Arial"/>
              <a:ea typeface="Arial"/>
              <a:cs typeface="Arial"/>
              <a:sym typeface="Arial"/>
            </a:endParaRPr>
          </a:p>
          <a:p>
            <a:pPr indent="0" lvl="0" marL="0" rtl="0" algn="l">
              <a:lnSpc>
                <a:spcPct val="95000"/>
              </a:lnSpc>
              <a:spcBef>
                <a:spcPts val="1200"/>
              </a:spcBef>
              <a:spcAft>
                <a:spcPts val="1200"/>
              </a:spcAft>
              <a:buSzPts val="935"/>
              <a:buNone/>
            </a:pPr>
            <a:r>
              <a:rPr lang="es-419" sz="1400">
                <a:solidFill>
                  <a:srgbClr val="202124"/>
                </a:solidFill>
                <a:highlight>
                  <a:srgbClr val="FFFFFF"/>
                </a:highlight>
                <a:latin typeface="Arial"/>
                <a:ea typeface="Arial"/>
                <a:cs typeface="Arial"/>
                <a:sym typeface="Arial"/>
              </a:rPr>
              <a:t>MAPE ( mean absolute percentage error) </a:t>
            </a:r>
            <a:endParaRPr sz="1400">
              <a:solidFill>
                <a:srgbClr val="202124"/>
              </a:solidFill>
              <a:highlight>
                <a:srgbClr val="FFFFFF"/>
              </a:highlight>
              <a:latin typeface="Arial"/>
              <a:ea typeface="Arial"/>
              <a:cs typeface="Arial"/>
              <a:sym typeface="Arial"/>
            </a:endParaRPr>
          </a:p>
        </p:txBody>
      </p:sp>
      <p:pic>
        <p:nvPicPr>
          <p:cNvPr id="179" name="Google Shape;179;p14"/>
          <p:cNvPicPr preferRelativeResize="0"/>
          <p:nvPr/>
        </p:nvPicPr>
        <p:blipFill rotWithShape="1">
          <a:blip r:embed="rId3">
            <a:alphaModFix/>
          </a:blip>
          <a:srcRect b="0" l="0" r="0" t="0"/>
          <a:stretch/>
        </p:blipFill>
        <p:spPr>
          <a:xfrm>
            <a:off x="4025799" y="2986375"/>
            <a:ext cx="1572100" cy="686900"/>
          </a:xfrm>
          <a:prstGeom prst="rect">
            <a:avLst/>
          </a:prstGeom>
          <a:noFill/>
          <a:ln>
            <a:noFill/>
          </a:ln>
        </p:spPr>
      </p:pic>
      <p:pic>
        <p:nvPicPr>
          <p:cNvPr id="180" name="Google Shape;180;p14"/>
          <p:cNvPicPr preferRelativeResize="0"/>
          <p:nvPr/>
        </p:nvPicPr>
        <p:blipFill rotWithShape="1">
          <a:blip r:embed="rId4">
            <a:alphaModFix/>
          </a:blip>
          <a:srcRect b="0" l="0" r="0" t="0"/>
          <a:stretch/>
        </p:blipFill>
        <p:spPr>
          <a:xfrm>
            <a:off x="4245350" y="3805575"/>
            <a:ext cx="1352550" cy="600075"/>
          </a:xfrm>
          <a:prstGeom prst="rect">
            <a:avLst/>
          </a:prstGeom>
          <a:noFill/>
          <a:ln>
            <a:noFill/>
          </a:ln>
        </p:spPr>
      </p:pic>
      <p:cxnSp>
        <p:nvCxnSpPr>
          <p:cNvPr id="181" name="Google Shape;181;p14"/>
          <p:cNvCxnSpPr/>
          <p:nvPr/>
        </p:nvCxnSpPr>
        <p:spPr>
          <a:xfrm flipH="1">
            <a:off x="5846250" y="2661800"/>
            <a:ext cx="1236600" cy="552900"/>
          </a:xfrm>
          <a:prstGeom prst="straightConnector1">
            <a:avLst/>
          </a:prstGeom>
          <a:noFill/>
          <a:ln cap="flat" cmpd="sng" w="9525">
            <a:solidFill>
              <a:schemeClr val="dk2"/>
            </a:solidFill>
            <a:prstDash val="solid"/>
            <a:round/>
            <a:headEnd len="sm" w="sm" type="none"/>
            <a:tailEnd len="med" w="med" type="triangle"/>
          </a:ln>
        </p:spPr>
      </p:cxnSp>
      <p:sp>
        <p:nvSpPr>
          <p:cNvPr id="182" name="Google Shape;182;p14"/>
          <p:cNvSpPr txBox="1"/>
          <p:nvPr/>
        </p:nvSpPr>
        <p:spPr>
          <a:xfrm>
            <a:off x="7176550" y="2305775"/>
            <a:ext cx="19863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s-419" sz="1400" u="none" cap="none" strike="noStrike">
                <a:solidFill>
                  <a:srgbClr val="000000"/>
                </a:solidFill>
                <a:latin typeface="Lato"/>
                <a:ea typeface="Lato"/>
                <a:cs typeface="Lato"/>
                <a:sym typeface="Lato"/>
              </a:rPr>
              <a:t>no es diferenciable en todos los puntos</a:t>
            </a:r>
            <a:endParaRPr b="0" i="0" sz="1400" u="none" cap="none" strike="noStrike">
              <a:solidFill>
                <a:srgbClr val="000000"/>
              </a:solidFill>
              <a:latin typeface="Lato"/>
              <a:ea typeface="Lato"/>
              <a:cs typeface="Lato"/>
              <a:sym typeface="La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15"/>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Métricas</a:t>
            </a:r>
            <a:endParaRPr/>
          </a:p>
        </p:txBody>
      </p:sp>
      <p:sp>
        <p:nvSpPr>
          <p:cNvPr id="188" name="Google Shape;188;p15"/>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rPr lang="es-419"/>
              <a:t>Así como se habló de RSS (residual sum of squares) se puede hablar de TSS: total sum of squares.</a:t>
            </a:r>
            <a:endParaRPr/>
          </a:p>
          <a:p>
            <a:pPr indent="0" lvl="0" marL="0" rtl="0" algn="l">
              <a:lnSpc>
                <a:spcPct val="115000"/>
              </a:lnSpc>
              <a:spcBef>
                <a:spcPts val="1200"/>
              </a:spcBef>
              <a:spcAft>
                <a:spcPts val="1200"/>
              </a:spcAft>
              <a:buSzPts val="1300"/>
              <a:buNone/>
            </a:pPr>
            <a:r>
              <a:rPr lang="es-419">
                <a:solidFill>
                  <a:srgbClr val="374151"/>
                </a:solidFill>
                <a:highlight>
                  <a:schemeClr val="lt1"/>
                </a:highlight>
              </a:rPr>
              <a:t>Mide la variabilidad total en los valores reales (la suma de los cuadrados de las diferencias entre los valores reales y la media de los valores reales). </a:t>
            </a:r>
            <a:endParaRPr sz="1400">
              <a:highlight>
                <a:schemeClr val="lt1"/>
              </a:highlight>
            </a:endParaRPr>
          </a:p>
        </p:txBody>
      </p:sp>
      <p:pic>
        <p:nvPicPr>
          <p:cNvPr id="189" name="Google Shape;189;p15"/>
          <p:cNvPicPr preferRelativeResize="0"/>
          <p:nvPr/>
        </p:nvPicPr>
        <p:blipFill rotWithShape="1">
          <a:blip r:embed="rId3">
            <a:alphaModFix/>
          </a:blip>
          <a:srcRect b="0" l="0" r="0" t="0"/>
          <a:stretch/>
        </p:blipFill>
        <p:spPr>
          <a:xfrm>
            <a:off x="3586163" y="3159800"/>
            <a:ext cx="1971675" cy="8286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16"/>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Métricas</a:t>
            </a:r>
            <a:endParaRPr/>
          </a:p>
        </p:txBody>
      </p:sp>
      <p:sp>
        <p:nvSpPr>
          <p:cNvPr id="195" name="Google Shape;195;p16"/>
          <p:cNvSpPr txBox="1"/>
          <p:nvPr>
            <p:ph idx="1" type="body"/>
          </p:nvPr>
        </p:nvSpPr>
        <p:spPr>
          <a:xfrm>
            <a:off x="729450" y="2075175"/>
            <a:ext cx="7688700" cy="2760000"/>
          </a:xfrm>
          <a:prstGeom prst="rect">
            <a:avLst/>
          </a:prstGeom>
          <a:noFill/>
          <a:ln>
            <a:noFill/>
          </a:ln>
        </p:spPr>
        <p:txBody>
          <a:bodyPr anchorCtr="0" anchor="t" bIns="91425" lIns="91425" spcFirstLastPara="1" rIns="91425" wrap="square" tIns="91425">
            <a:normAutofit fontScale="40000"/>
          </a:bodyPr>
          <a:lstStyle/>
          <a:p>
            <a:pPr indent="0" lvl="0" marL="0" rtl="0" algn="l">
              <a:lnSpc>
                <a:spcPct val="115000"/>
              </a:lnSpc>
              <a:spcBef>
                <a:spcPts val="0"/>
              </a:spcBef>
              <a:spcAft>
                <a:spcPts val="0"/>
              </a:spcAft>
              <a:buSzPct val="108333"/>
              <a:buNone/>
            </a:pPr>
            <a:r>
              <a:rPr lang="es-419" sz="3000"/>
              <a:t>TSS mide variabilidad de los datos, RSS la variabilidad que no puede explicarse por la regresión lineal. De tal forma que su resta mide la variabilidad que sí es explicada por la regresión lineal. </a:t>
            </a:r>
            <a:endParaRPr sz="3000"/>
          </a:p>
          <a:p>
            <a:pPr indent="0" lvl="0" marL="0" rtl="0" algn="l">
              <a:lnSpc>
                <a:spcPct val="115000"/>
              </a:lnSpc>
              <a:spcBef>
                <a:spcPts val="1200"/>
              </a:spcBef>
              <a:spcAft>
                <a:spcPts val="0"/>
              </a:spcAft>
              <a:buSzPct val="108333"/>
              <a:buNone/>
            </a:pPr>
            <a:r>
              <a:rPr lang="es-419" sz="3000"/>
              <a:t>Mientras más bajo es la suma residuales de cuadrados respecto a la variación total de los datos respecto de su media, más cerca de 1, y se puede decir que la regresión lineal explica de buena forma la variabilidad de los datos.</a:t>
            </a:r>
            <a:endParaRPr sz="3000"/>
          </a:p>
          <a:p>
            <a:pPr indent="0" lvl="0" marL="0" rtl="0" algn="l">
              <a:lnSpc>
                <a:spcPct val="115000"/>
              </a:lnSpc>
              <a:spcBef>
                <a:spcPts val="1200"/>
              </a:spcBef>
              <a:spcAft>
                <a:spcPts val="0"/>
              </a:spcAft>
              <a:buSzPct val="108333"/>
              <a:buNone/>
            </a:pPr>
            <a:r>
              <a:rPr lang="es-419" sz="3000"/>
              <a:t>Si es cercano a cero, implica que RSS es considerable respecto de TSS.</a:t>
            </a:r>
            <a:endParaRPr sz="3000"/>
          </a:p>
          <a:p>
            <a:pPr indent="0" lvl="0" marL="0" rtl="0" algn="l">
              <a:lnSpc>
                <a:spcPct val="115000"/>
              </a:lnSpc>
              <a:spcBef>
                <a:spcPts val="1200"/>
              </a:spcBef>
              <a:spcAft>
                <a:spcPts val="0"/>
              </a:spcAft>
              <a:buSzPct val="108333"/>
              <a:buNone/>
            </a:pPr>
            <a:r>
              <a:rPr lang="es-419" sz="3000"/>
              <a:t>Si es cero, implica RSS = TSS. La suma de los cuadrados del desvío de cada dato con la predicción es lo mismo que el desvío de cada dato con su media -&gt; el modelo es tan simple como el promedio de los datos.</a:t>
            </a:r>
            <a:endParaRPr sz="3000"/>
          </a:p>
          <a:p>
            <a:pPr indent="0" lvl="0" marL="0" rtl="0" algn="l">
              <a:lnSpc>
                <a:spcPct val="115000"/>
              </a:lnSpc>
              <a:spcBef>
                <a:spcPts val="1200"/>
              </a:spcBef>
              <a:spcAft>
                <a:spcPts val="1200"/>
              </a:spcAft>
              <a:buSzPct val="108333"/>
              <a:buNone/>
            </a:pPr>
            <a:r>
              <a:rPr b="1" lang="es-419" sz="3000"/>
              <a:t>¿Puede ser menor a cero?</a:t>
            </a:r>
            <a:endParaRPr b="1"/>
          </a:p>
        </p:txBody>
      </p:sp>
      <p:pic>
        <p:nvPicPr>
          <p:cNvPr id="196" name="Google Shape;196;p16"/>
          <p:cNvPicPr preferRelativeResize="0"/>
          <p:nvPr/>
        </p:nvPicPr>
        <p:blipFill rotWithShape="1">
          <a:blip r:embed="rId3">
            <a:alphaModFix/>
          </a:blip>
          <a:srcRect b="0" l="0" r="0" t="0"/>
          <a:stretch/>
        </p:blipFill>
        <p:spPr>
          <a:xfrm>
            <a:off x="3464350" y="1318650"/>
            <a:ext cx="2044500" cy="7565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g395883b0ceb_2_0"/>
          <p:cNvSpPr txBox="1"/>
          <p:nvPr>
            <p:ph type="title"/>
          </p:nvPr>
        </p:nvSpPr>
        <p:spPr>
          <a:xfrm>
            <a:off x="729450" y="1322450"/>
            <a:ext cx="7688400" cy="15186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600"/>
              <a:buNone/>
            </a:pPr>
            <a:r>
              <a:rPr lang="es-419"/>
              <a:t>Correlación</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g395883b0ceb_2_4"/>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Features muy correlacionadas linealmente</a:t>
            </a:r>
            <a:endParaRPr/>
          </a:p>
        </p:txBody>
      </p:sp>
      <p:sp>
        <p:nvSpPr>
          <p:cNvPr id="207" name="Google Shape;207;g395883b0ceb_2_4"/>
          <p:cNvSpPr txBox="1"/>
          <p:nvPr>
            <p:ph idx="1" type="body"/>
          </p:nvPr>
        </p:nvSpPr>
        <p:spPr>
          <a:xfrm>
            <a:off x="729450" y="2221450"/>
            <a:ext cx="7688700" cy="2118600"/>
          </a:xfrm>
          <a:prstGeom prst="rect">
            <a:avLst/>
          </a:prstGeom>
          <a:noFill/>
          <a:ln>
            <a:noFill/>
          </a:ln>
        </p:spPr>
        <p:txBody>
          <a:bodyPr anchorCtr="0" anchor="t" bIns="91425" lIns="91425" spcFirstLastPara="1" rIns="91425" wrap="square" tIns="91425">
            <a:normAutofit/>
          </a:bodyPr>
          <a:lstStyle/>
          <a:p>
            <a:pPr indent="0" lvl="0" marL="0" rtl="0" algn="ctr">
              <a:lnSpc>
                <a:spcPct val="115000"/>
              </a:lnSpc>
              <a:spcBef>
                <a:spcPts val="0"/>
              </a:spcBef>
              <a:spcAft>
                <a:spcPts val="0"/>
              </a:spcAft>
              <a:buSzPts val="1300"/>
              <a:buNone/>
            </a:pPr>
            <a:r>
              <a:rPr lang="es-419">
                <a:latin typeface="Verdana"/>
                <a:ea typeface="Verdana"/>
                <a:cs typeface="Verdana"/>
                <a:sym typeface="Verdana"/>
              </a:rPr>
              <a:t>y = a x</a:t>
            </a:r>
            <a:r>
              <a:rPr baseline="-25000" lang="es-419">
                <a:latin typeface="Verdana"/>
                <a:ea typeface="Verdana"/>
                <a:cs typeface="Verdana"/>
                <a:sym typeface="Verdana"/>
              </a:rPr>
              <a:t>1</a:t>
            </a:r>
            <a:r>
              <a:rPr lang="es-419">
                <a:latin typeface="Verdana"/>
                <a:ea typeface="Verdana"/>
                <a:cs typeface="Verdana"/>
                <a:sym typeface="Verdana"/>
              </a:rPr>
              <a:t> + b x</a:t>
            </a:r>
            <a:r>
              <a:rPr baseline="-25000" lang="es-419">
                <a:latin typeface="Verdana"/>
                <a:ea typeface="Verdana"/>
                <a:cs typeface="Verdana"/>
                <a:sym typeface="Verdana"/>
              </a:rPr>
              <a:t>2</a:t>
            </a:r>
            <a:r>
              <a:rPr lang="es-419">
                <a:latin typeface="Verdana"/>
                <a:ea typeface="Verdana"/>
                <a:cs typeface="Verdana"/>
                <a:sym typeface="Verdana"/>
              </a:rPr>
              <a:t> + c</a:t>
            </a:r>
            <a:endParaRPr>
              <a:latin typeface="Verdana"/>
              <a:ea typeface="Verdana"/>
              <a:cs typeface="Verdana"/>
              <a:sym typeface="Verdana"/>
            </a:endParaRPr>
          </a:p>
          <a:p>
            <a:pPr indent="0" lvl="0" marL="0" rtl="0" algn="ctr">
              <a:lnSpc>
                <a:spcPct val="115000"/>
              </a:lnSpc>
              <a:spcBef>
                <a:spcPts val="1200"/>
              </a:spcBef>
              <a:spcAft>
                <a:spcPts val="0"/>
              </a:spcAft>
              <a:buSzPts val="1300"/>
              <a:buNone/>
            </a:pPr>
            <a:r>
              <a:rPr lang="es-419">
                <a:latin typeface="Verdana"/>
                <a:ea typeface="Verdana"/>
                <a:cs typeface="Verdana"/>
                <a:sym typeface="Verdana"/>
              </a:rPr>
              <a:t>Si x</a:t>
            </a:r>
            <a:r>
              <a:rPr baseline="-25000" lang="es-419">
                <a:latin typeface="Verdana"/>
                <a:ea typeface="Verdana"/>
                <a:cs typeface="Verdana"/>
                <a:sym typeface="Verdana"/>
              </a:rPr>
              <a:t>2</a:t>
            </a:r>
            <a:r>
              <a:rPr lang="es-419">
                <a:latin typeface="Verdana"/>
                <a:ea typeface="Verdana"/>
                <a:cs typeface="Verdana"/>
                <a:sym typeface="Verdana"/>
              </a:rPr>
              <a:t> = d x</a:t>
            </a:r>
            <a:r>
              <a:rPr baseline="-25000" lang="es-419">
                <a:latin typeface="Verdana"/>
                <a:ea typeface="Verdana"/>
                <a:cs typeface="Verdana"/>
                <a:sym typeface="Verdana"/>
              </a:rPr>
              <a:t>1</a:t>
            </a:r>
            <a:endParaRPr>
              <a:latin typeface="Verdana"/>
              <a:ea typeface="Verdana"/>
              <a:cs typeface="Verdana"/>
              <a:sym typeface="Verdana"/>
            </a:endParaRPr>
          </a:p>
          <a:p>
            <a:pPr indent="0" lvl="0" marL="0" rtl="0" algn="ctr">
              <a:lnSpc>
                <a:spcPct val="115000"/>
              </a:lnSpc>
              <a:spcBef>
                <a:spcPts val="1200"/>
              </a:spcBef>
              <a:spcAft>
                <a:spcPts val="0"/>
              </a:spcAft>
              <a:buSzPts val="1300"/>
              <a:buNone/>
            </a:pPr>
            <a:r>
              <a:rPr lang="es-419">
                <a:latin typeface="Verdana"/>
                <a:ea typeface="Verdana"/>
                <a:cs typeface="Verdana"/>
                <a:sym typeface="Verdana"/>
              </a:rPr>
              <a:t>y = a x</a:t>
            </a:r>
            <a:r>
              <a:rPr baseline="-25000" lang="es-419">
                <a:latin typeface="Verdana"/>
                <a:ea typeface="Verdana"/>
                <a:cs typeface="Verdana"/>
                <a:sym typeface="Verdana"/>
              </a:rPr>
              <a:t>1</a:t>
            </a:r>
            <a:r>
              <a:rPr lang="es-419">
                <a:latin typeface="Verdana"/>
                <a:ea typeface="Verdana"/>
                <a:cs typeface="Verdana"/>
                <a:sym typeface="Verdana"/>
              </a:rPr>
              <a:t> + b dx</a:t>
            </a:r>
            <a:r>
              <a:rPr baseline="-25000" lang="es-419">
                <a:latin typeface="Verdana"/>
                <a:ea typeface="Verdana"/>
                <a:cs typeface="Verdana"/>
                <a:sym typeface="Verdana"/>
              </a:rPr>
              <a:t>1</a:t>
            </a:r>
            <a:r>
              <a:rPr lang="es-419">
                <a:latin typeface="Verdana"/>
                <a:ea typeface="Verdana"/>
                <a:cs typeface="Verdana"/>
                <a:sym typeface="Verdana"/>
              </a:rPr>
              <a:t> + c</a:t>
            </a:r>
            <a:endParaRPr>
              <a:latin typeface="Verdana"/>
              <a:ea typeface="Verdana"/>
              <a:cs typeface="Verdana"/>
              <a:sym typeface="Verdana"/>
            </a:endParaRPr>
          </a:p>
          <a:p>
            <a:pPr indent="0" lvl="0" marL="0" rtl="0" algn="ctr">
              <a:lnSpc>
                <a:spcPct val="115000"/>
              </a:lnSpc>
              <a:spcBef>
                <a:spcPts val="1200"/>
              </a:spcBef>
              <a:spcAft>
                <a:spcPts val="1200"/>
              </a:spcAft>
              <a:buSzPts val="1300"/>
              <a:buNone/>
            </a:pPr>
            <a:r>
              <a:rPr lang="es-419">
                <a:latin typeface="Verdana"/>
                <a:ea typeface="Verdana"/>
                <a:cs typeface="Verdana"/>
                <a:sym typeface="Verdana"/>
              </a:rPr>
              <a:t>y = (a + bd) x</a:t>
            </a:r>
            <a:r>
              <a:rPr baseline="-25000" lang="es-419">
                <a:latin typeface="Verdana"/>
                <a:ea typeface="Verdana"/>
                <a:cs typeface="Verdana"/>
                <a:sym typeface="Verdana"/>
              </a:rPr>
              <a:t>1 </a:t>
            </a:r>
            <a:r>
              <a:rPr lang="es-419">
                <a:latin typeface="Verdana"/>
                <a:ea typeface="Verdana"/>
                <a:cs typeface="Verdana"/>
                <a:sym typeface="Verdana"/>
              </a:rPr>
              <a:t>+ c</a:t>
            </a:r>
            <a:endParaRPr>
              <a:latin typeface="Verdana"/>
              <a:ea typeface="Verdana"/>
              <a:cs typeface="Verdana"/>
              <a:sym typeface="Verdana"/>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g395883b0ceb_2_9"/>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Coeficiente de correlación de Pearson</a:t>
            </a:r>
            <a:endParaRPr/>
          </a:p>
        </p:txBody>
      </p:sp>
      <p:pic>
        <p:nvPicPr>
          <p:cNvPr id="213" name="Google Shape;213;g395883b0ceb_2_9"/>
          <p:cNvPicPr preferRelativeResize="0"/>
          <p:nvPr/>
        </p:nvPicPr>
        <p:blipFill rotWithShape="1">
          <a:blip r:embed="rId3">
            <a:alphaModFix/>
          </a:blip>
          <a:srcRect b="0" l="0" r="0" t="0"/>
          <a:stretch/>
        </p:blipFill>
        <p:spPr>
          <a:xfrm>
            <a:off x="2678325" y="2457150"/>
            <a:ext cx="3790950" cy="8667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g395883b0ceb_2_14"/>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Coeficiente de correlación de Pearson</a:t>
            </a:r>
            <a:endParaRPr/>
          </a:p>
          <a:p>
            <a:pPr indent="0" lvl="0" marL="0" rtl="0" algn="l">
              <a:lnSpc>
                <a:spcPct val="100000"/>
              </a:lnSpc>
              <a:spcBef>
                <a:spcPts val="0"/>
              </a:spcBef>
              <a:spcAft>
                <a:spcPts val="0"/>
              </a:spcAft>
              <a:buSzPct val="111111"/>
              <a:buNone/>
            </a:pPr>
            <a:r>
              <a:t/>
            </a:r>
            <a:endParaRPr/>
          </a:p>
        </p:txBody>
      </p:sp>
      <p:pic>
        <p:nvPicPr>
          <p:cNvPr id="219" name="Google Shape;219;g395883b0ceb_2_14"/>
          <p:cNvPicPr preferRelativeResize="0"/>
          <p:nvPr/>
        </p:nvPicPr>
        <p:blipFill rotWithShape="1">
          <a:blip r:embed="rId3">
            <a:alphaModFix/>
          </a:blip>
          <a:srcRect b="0" l="0" r="0" t="0"/>
          <a:stretch/>
        </p:blipFill>
        <p:spPr>
          <a:xfrm>
            <a:off x="1179549" y="1958250"/>
            <a:ext cx="6788501" cy="29791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pic>
        <p:nvPicPr>
          <p:cNvPr id="224" name="Google Shape;224;g395883b0ceb_2_96"/>
          <p:cNvPicPr preferRelativeResize="0"/>
          <p:nvPr/>
        </p:nvPicPr>
        <p:blipFill rotWithShape="1">
          <a:blip r:embed="rId3">
            <a:alphaModFix/>
          </a:blip>
          <a:srcRect b="0" l="0" r="0" t="0"/>
          <a:stretch/>
        </p:blipFill>
        <p:spPr>
          <a:xfrm>
            <a:off x="152400" y="742650"/>
            <a:ext cx="8839199" cy="405759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